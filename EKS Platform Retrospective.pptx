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cd217de1-f189-cd2f-6b2f-7ac9e0c45149}">
          <p14:sldIdLst>
            <p14:sldId id="256"/>
            <p14:sldId id="257"/>
          </p14:sldIdLst>
        </p14:section>
        <p14:section name="Improvements" id="{28041548-8df5-7477-7f50-58240f1e7682}">
          <p14:sldIdLst>
            <p14:sldId id="258"/>
            <p14:sldId id="259"/>
            <p14:sldId id="260"/>
            <p14:sldId id="261"/>
            <p14:sldId id="262"/>
          </p14:sldIdLst>
        </p14:section>
        <p14:section name="Wrap-up" id="{4c959869-c94f-96c9-ebbf-f1667ec4e30d}">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Retrospective on the current multi-cluster EKS setup. Four improvements: GitOps for add-on upgrades, Cilium instead of VPC CNI, Cilium Cluster Mesh for the many-small-clusters model, and Karpenter instead of Brupop.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per change follows. GitOps comes first because Cilium and Karpenter are themselves add-ons that benefit from being delivered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pain is add-on upgrades across many small clusters. With a central Argo CD and ApplicationSets, the version lives in Git and the rollout is staged. Rollback is a revert. This also gives a clean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grid only, no measured numbers. With the VPC CNI each pod takes a VPC IP. With Cilium cluster-pool IPAM in overlay mode, pods use a separate CIDR and only nodes consume VPC addresses. Trade-offs are on the watch-outs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run many small clusters, cross-cluster connectivity matters. Cluster Mesh gives service discovery, failover and policy across them. Check the maturity of Cilium mutual authentication before relying on it for mTLS; it was beta when last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IP savings and the mesh. Encryption in transit and flow logs are the most relevant for compliance work, but each feature should be checked against the pinned Cilium version and the specific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Bottlerocket stays as the OS. What changes is how nodes are provisioned and updated. Karpenter replaces nodes on AMI drift, so Brupop is no longer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four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block the change; they are things to design for. The webhook point is the one that most often surprises people moving to an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order only. GitOps first because Cilium and Karpenter are themselves add-ons that benefit from being delivered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chemeClr val="accent6"/>
                </a:solidFill>
              </a:rPr>
              <a:t>EKS platform retrospective</a:t>
            </a:r>
            <a:endParaRPr lang="en-US" sz="12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k title"/>
          <p:cNvSpPr txBox="1"/>
          <p:nvPr/>
        </p:nvSpPr>
        <p:spPr>
          <a:xfrm>
            <a:off x="731520" y="2103120"/>
            <a:ext cx="694944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EKS platform retrospective</a:t>
            </a:r>
            <a:endParaRPr lang="en-US" sz="4400" dirty="0"/>
          </a:p>
        </p:txBody>
      </p:sp>
      <p:sp>
        <p:nvSpPr>
          <p:cNvPr id="3" name="Deck subtitle"/>
          <p:cNvSpPr txBox="1"/>
          <p:nvPr/>
        </p:nvSpPr>
        <p:spPr>
          <a:xfrm>
            <a:off x="731520" y="3200400"/>
            <a:ext cx="6583680" cy="914400"/>
          </a:xfrm>
          <a:prstGeom prst="rect">
            <a:avLst/>
          </a:prstGeom>
          <a:noFill/>
          <a:ln/>
        </p:spPr>
        <p:txBody>
          <a:bodyPr wrap="square" lIns="0" tIns="0" rIns="0" bIns="0" rtlCol="0" anchor="t"/>
          <a:lstStyle/>
          <a:p>
            <a:pPr indent="0" marL="0">
              <a:buNone/>
            </a:pPr>
            <a:r>
              <a:rPr lang="en-US" sz="2000" dirty="0">
                <a:solidFill>
                  <a:schemeClr val="accent4"/>
                </a:solidFill>
              </a:rPr>
              <a:t>What we would improve: GitOps for add-ons, Cilium, and Karpenter</a:t>
            </a:r>
            <a:endParaRPr lang="en-US" sz="2000" dirty="0"/>
          </a:p>
        </p:txBody>
      </p:sp>
      <p:sp>
        <p:nvSpPr>
          <p:cNvPr id="4" name="FaGitAlt circle"/>
          <p:cNvSpPr/>
          <p:nvPr/>
        </p:nvSpPr>
        <p:spPr>
          <a:xfrm>
            <a:off x="8503920" y="1828800"/>
            <a:ext cx="1280160" cy="1280160"/>
          </a:xfrm>
          <a:prstGeom prst="ellipse">
            <a:avLst/>
          </a:prstGeom>
          <a:solidFill>
            <a:schemeClr val="accent1"/>
          </a:solidFill>
          <a:ln/>
        </p:spPr>
      </p:sp>
      <p:pic>
        <p:nvPicPr>
          <p:cNvPr id="5" name="FaGitAlt icon" descr="FaGitAlt">    </p:cNvPr>
          <p:cNvPicPr>
            <a:picLocks noChangeAspect="1"/>
          </p:cNvPicPr>
          <p:nvPr/>
        </p:nvPicPr>
        <p:blipFill>
          <a:blip r:embed="rId1"/>
          <a:stretch>
            <a:fillRect/>
          </a:stretch>
        </p:blipFill>
        <p:spPr>
          <a:xfrm>
            <a:off x="8823960" y="2148840"/>
            <a:ext cx="640080" cy="640080"/>
          </a:xfrm>
          <a:prstGeom prst="rect">
            <a:avLst/>
          </a:prstGeom>
        </p:spPr>
      </p:pic>
      <p:sp>
        <p:nvSpPr>
          <p:cNvPr id="6" name="FaNetworkWired circle"/>
          <p:cNvSpPr/>
          <p:nvPr/>
        </p:nvSpPr>
        <p:spPr>
          <a:xfrm>
            <a:off x="10058400" y="1828800"/>
            <a:ext cx="1280160" cy="1280160"/>
          </a:xfrm>
          <a:prstGeom prst="ellipse">
            <a:avLst/>
          </a:prstGeom>
          <a:solidFill>
            <a:schemeClr val="accent1"/>
          </a:solidFill>
          <a:ln/>
        </p:spPr>
      </p:sp>
      <p:pic>
        <p:nvPicPr>
          <p:cNvPr id="7" name="FaNetworkWired icon" descr="FaNetworkWired">    </p:cNvPr>
          <p:cNvPicPr>
            <a:picLocks noChangeAspect="1"/>
          </p:cNvPicPr>
          <p:nvPr/>
        </p:nvPicPr>
        <p:blipFill>
          <a:blip r:embed="rId2"/>
          <a:stretch>
            <a:fillRect/>
          </a:stretch>
        </p:blipFill>
        <p:spPr>
          <a:xfrm>
            <a:off x="10378440" y="2148840"/>
            <a:ext cx="640080" cy="640080"/>
          </a:xfrm>
          <a:prstGeom prst="rect">
            <a:avLst/>
          </a:prstGeom>
        </p:spPr>
      </p:pic>
      <p:sp>
        <p:nvSpPr>
          <p:cNvPr id="8" name="FaProjectDiagram circle"/>
          <p:cNvSpPr/>
          <p:nvPr/>
        </p:nvSpPr>
        <p:spPr>
          <a:xfrm>
            <a:off x="8503920" y="3383280"/>
            <a:ext cx="1280160" cy="1280160"/>
          </a:xfrm>
          <a:prstGeom prst="ellipse">
            <a:avLst/>
          </a:prstGeom>
          <a:solidFill>
            <a:schemeClr val="accent1"/>
          </a:solidFill>
          <a:ln/>
        </p:spPr>
      </p:sp>
      <p:pic>
        <p:nvPicPr>
          <p:cNvPr id="9" name="FaProjectDiagram icon" descr="FaProjectDiagram">    </p:cNvPr>
          <p:cNvPicPr>
            <a:picLocks noChangeAspect="1"/>
          </p:cNvPicPr>
          <p:nvPr/>
        </p:nvPicPr>
        <p:blipFill>
          <a:blip r:embed="rId3"/>
          <a:stretch>
            <a:fillRect/>
          </a:stretch>
        </p:blipFill>
        <p:spPr>
          <a:xfrm>
            <a:off x="8823960" y="3703320"/>
            <a:ext cx="640080" cy="640080"/>
          </a:xfrm>
          <a:prstGeom prst="rect">
            <a:avLst/>
          </a:prstGeom>
        </p:spPr>
      </p:pic>
      <p:sp>
        <p:nvSpPr>
          <p:cNvPr id="10" name="FaServer circle"/>
          <p:cNvSpPr/>
          <p:nvPr/>
        </p:nvSpPr>
        <p:spPr>
          <a:xfrm>
            <a:off x="10058400" y="3383280"/>
            <a:ext cx="1280160" cy="1280160"/>
          </a:xfrm>
          <a:prstGeom prst="ellipse">
            <a:avLst/>
          </a:prstGeom>
          <a:solidFill>
            <a:schemeClr val="accent1"/>
          </a:solidFill>
          <a:ln/>
        </p:spPr>
      </p:sp>
      <p:pic>
        <p:nvPicPr>
          <p:cNvPr id="11" name="FaServer icon" descr="FaServer">    </p:cNvPr>
          <p:cNvPicPr>
            <a:picLocks noChangeAspect="1"/>
          </p:cNvPicPr>
          <p:nvPr/>
        </p:nvPicPr>
        <p:blipFill>
          <a:blip r:embed="rId4"/>
          <a:stretch>
            <a:fillRect/>
          </a:stretch>
        </p:blipFill>
        <p:spPr>
          <a:xfrm>
            <a:off x="10378440" y="370332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Four changes worth making</a:t>
            </a:r>
            <a:endParaRPr lang="en-US" sz="3600" dirty="0"/>
          </a:p>
        </p:txBody>
      </p:sp>
      <p:sp>
        <p:nvSpPr>
          <p:cNvPr id="3" name="Card Add-ons"/>
          <p:cNvSpPr/>
          <p:nvPr/>
        </p:nvSpPr>
        <p:spPr>
          <a:xfrm>
            <a:off x="548640" y="1554480"/>
            <a:ext cx="2606040" cy="4480560"/>
          </a:xfrm>
          <a:prstGeom prst="roundRect">
            <a:avLst>
              <a:gd name="adj" fmla="val 4211"/>
            </a:avLst>
          </a:prstGeom>
          <a:solidFill>
            <a:schemeClr val="bg2"/>
          </a:solidFill>
          <a:ln/>
        </p:spPr>
      </p:sp>
      <p:sp>
        <p:nvSpPr>
          <p:cNvPr id="4" name="Add-ons circle"/>
          <p:cNvSpPr/>
          <p:nvPr/>
        </p:nvSpPr>
        <p:spPr>
          <a:xfrm>
            <a:off x="731520" y="1783080"/>
            <a:ext cx="685800" cy="685800"/>
          </a:xfrm>
          <a:prstGeom prst="ellipse">
            <a:avLst/>
          </a:prstGeom>
          <a:solidFill>
            <a:schemeClr val="accent1"/>
          </a:solidFill>
          <a:ln/>
        </p:spPr>
      </p:sp>
      <p:pic>
        <p:nvPicPr>
          <p:cNvPr id="5" name="Add-ons icon" descr="Add-ons">    </p:cNvPr>
          <p:cNvPicPr>
            <a:picLocks noChangeAspect="1"/>
          </p:cNvPicPr>
          <p:nvPr/>
        </p:nvPicPr>
        <p:blipFill>
          <a:blip r:embed="rId1"/>
          <a:stretch>
            <a:fillRect/>
          </a:stretch>
        </p:blipFill>
        <p:spPr>
          <a:xfrm>
            <a:off x="902970" y="1954530"/>
            <a:ext cx="342900" cy="342900"/>
          </a:xfrm>
          <a:prstGeom prst="rect">
            <a:avLst/>
          </a:prstGeom>
        </p:spPr>
      </p:pic>
      <p:sp>
        <p:nvSpPr>
          <p:cNvPr id="6" name="Text 3"/>
          <p:cNvSpPr txBox="1"/>
          <p:nvPr/>
        </p:nvSpPr>
        <p:spPr>
          <a:xfrm>
            <a:off x="731520" y="2697480"/>
            <a:ext cx="2240280" cy="457200"/>
          </a:xfrm>
          <a:prstGeom prst="rect">
            <a:avLst/>
          </a:prstGeom>
          <a:noFill/>
          <a:ln/>
        </p:spPr>
        <p:txBody>
          <a:bodyPr wrap="square" lIns="0" tIns="0" rIns="0" bIns="0" rtlCol="0" anchor="t"/>
          <a:lstStyle/>
          <a:p>
            <a:pPr indent="0" marL="0">
              <a:buNone/>
            </a:pPr>
            <a:r>
              <a:rPr lang="en-US" sz="2000" b="1" dirty="0">
                <a:solidFill>
                  <a:schemeClr val="tx2"/>
                </a:solidFill>
              </a:rPr>
              <a:t>Add-ons</a:t>
            </a:r>
            <a:endParaRPr lang="en-US" sz="2000" dirty="0"/>
          </a:p>
        </p:txBody>
      </p:sp>
      <p:sp>
        <p:nvSpPr>
          <p:cNvPr id="7" name="Text 4"/>
          <p:cNvSpPr txBox="1"/>
          <p:nvPr/>
        </p:nvSpPr>
        <p:spPr>
          <a:xfrm>
            <a:off x="731520" y="3246120"/>
            <a:ext cx="2240280" cy="228600"/>
          </a:xfrm>
          <a:prstGeom prst="rect">
            <a:avLst/>
          </a:prstGeom>
          <a:noFill/>
          <a:ln/>
        </p:spPr>
        <p:txBody>
          <a:bodyPr wrap="square" lIns="0" tIns="0" rIns="0" bIns="0" rtlCol="0" anchor="t"/>
          <a:lstStyle/>
          <a:p>
            <a:pPr indent="0" marL="0">
              <a:buNone/>
            </a:pPr>
            <a:r>
              <a:rPr lang="en-US" sz="1200" b="1" spc="200" kern="0" dirty="0">
                <a:solidFill>
                  <a:schemeClr val="accent6"/>
                </a:solidFill>
              </a:rPr>
              <a:t>TODAY</a:t>
            </a:r>
            <a:endParaRPr lang="en-US" sz="1200" dirty="0"/>
          </a:p>
        </p:txBody>
      </p:sp>
      <p:sp>
        <p:nvSpPr>
          <p:cNvPr id="8" name="Text 5"/>
          <p:cNvSpPr txBox="1"/>
          <p:nvPr/>
        </p:nvSpPr>
        <p:spPr>
          <a:xfrm>
            <a:off x="731520" y="3520440"/>
            <a:ext cx="2240280" cy="1097280"/>
          </a:xfrm>
          <a:prstGeom prst="rect">
            <a:avLst/>
          </a:prstGeom>
          <a:noFill/>
          <a:ln/>
        </p:spPr>
        <p:txBody>
          <a:bodyPr wrap="square" lIns="0" tIns="0" rIns="0" bIns="0" rtlCol="0" anchor="t"/>
          <a:lstStyle/>
          <a:p>
            <a:pPr indent="0" marL="0">
              <a:buNone/>
            </a:pPr>
            <a:r>
              <a:rPr lang="en-US" sz="1400" dirty="0">
                <a:solidFill>
                  <a:schemeClr val="tx1"/>
                </a:solidFill>
              </a:rPr>
              <a:t>Upgrades are hard and repeated per cluster</a:t>
            </a:r>
            <a:endParaRPr lang="en-US" sz="1400" dirty="0"/>
          </a:p>
        </p:txBody>
      </p:sp>
      <p:sp>
        <p:nvSpPr>
          <p:cNvPr id="9" name="Text 6"/>
          <p:cNvSpPr txBox="1"/>
          <p:nvPr/>
        </p:nvSpPr>
        <p:spPr>
          <a:xfrm>
            <a:off x="731520" y="4754880"/>
            <a:ext cx="22402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CHANGE</a:t>
            </a:r>
            <a:endParaRPr lang="en-US" sz="1200" dirty="0"/>
          </a:p>
        </p:txBody>
      </p:sp>
      <p:sp>
        <p:nvSpPr>
          <p:cNvPr id="10" name="Text 7"/>
          <p:cNvSpPr txBox="1"/>
          <p:nvPr/>
        </p:nvSpPr>
        <p:spPr>
          <a:xfrm>
            <a:off x="731520" y="5029200"/>
            <a:ext cx="2240280" cy="822960"/>
          </a:xfrm>
          <a:prstGeom prst="rect">
            <a:avLst/>
          </a:prstGeom>
          <a:noFill/>
          <a:ln/>
        </p:spPr>
        <p:txBody>
          <a:bodyPr wrap="square" lIns="0" tIns="0" rIns="0" bIns="0" rtlCol="0" anchor="t"/>
          <a:lstStyle/>
          <a:p>
            <a:pPr indent="0" marL="0">
              <a:buNone/>
            </a:pPr>
            <a:r>
              <a:rPr lang="en-US" sz="1600" b="1" dirty="0">
                <a:solidFill>
                  <a:schemeClr val="accent1"/>
                </a:solidFill>
              </a:rPr>
              <a:t>GitOps with Argo CD</a:t>
            </a:r>
            <a:endParaRPr lang="en-US" sz="1600" dirty="0"/>
          </a:p>
        </p:txBody>
      </p:sp>
      <p:sp>
        <p:nvSpPr>
          <p:cNvPr id="11" name="Card IP usage"/>
          <p:cNvSpPr/>
          <p:nvPr/>
        </p:nvSpPr>
        <p:spPr>
          <a:xfrm>
            <a:off x="3364992" y="1554480"/>
            <a:ext cx="2606040" cy="4480560"/>
          </a:xfrm>
          <a:prstGeom prst="roundRect">
            <a:avLst>
              <a:gd name="adj" fmla="val 4211"/>
            </a:avLst>
          </a:prstGeom>
          <a:solidFill>
            <a:schemeClr val="bg2"/>
          </a:solidFill>
          <a:ln/>
        </p:spPr>
      </p:sp>
      <p:sp>
        <p:nvSpPr>
          <p:cNvPr id="12" name="IP usage circle"/>
          <p:cNvSpPr/>
          <p:nvPr/>
        </p:nvSpPr>
        <p:spPr>
          <a:xfrm>
            <a:off x="3547872" y="1783080"/>
            <a:ext cx="685800" cy="685800"/>
          </a:xfrm>
          <a:prstGeom prst="ellipse">
            <a:avLst/>
          </a:prstGeom>
          <a:solidFill>
            <a:schemeClr val="accent1"/>
          </a:solidFill>
          <a:ln/>
        </p:spPr>
      </p:sp>
      <p:pic>
        <p:nvPicPr>
          <p:cNvPr id="13" name="IP usage icon" descr="IP usage">    </p:cNvPr>
          <p:cNvPicPr>
            <a:picLocks noChangeAspect="1"/>
          </p:cNvPicPr>
          <p:nvPr/>
        </p:nvPicPr>
        <p:blipFill>
          <a:blip r:embed="rId2"/>
          <a:stretch>
            <a:fillRect/>
          </a:stretch>
        </p:blipFill>
        <p:spPr>
          <a:xfrm>
            <a:off x="3719322" y="1954530"/>
            <a:ext cx="342900" cy="342900"/>
          </a:xfrm>
          <a:prstGeom prst="rect">
            <a:avLst/>
          </a:prstGeom>
        </p:spPr>
      </p:pic>
      <p:sp>
        <p:nvSpPr>
          <p:cNvPr id="14" name="Text 10"/>
          <p:cNvSpPr txBox="1"/>
          <p:nvPr/>
        </p:nvSpPr>
        <p:spPr>
          <a:xfrm>
            <a:off x="3547872" y="2697480"/>
            <a:ext cx="2240280" cy="457200"/>
          </a:xfrm>
          <a:prstGeom prst="rect">
            <a:avLst/>
          </a:prstGeom>
          <a:noFill/>
          <a:ln/>
        </p:spPr>
        <p:txBody>
          <a:bodyPr wrap="square" lIns="0" tIns="0" rIns="0" bIns="0" rtlCol="0" anchor="t"/>
          <a:lstStyle/>
          <a:p>
            <a:pPr indent="0" marL="0">
              <a:buNone/>
            </a:pPr>
            <a:r>
              <a:rPr lang="en-US" sz="2000" b="1" dirty="0">
                <a:solidFill>
                  <a:schemeClr val="tx2"/>
                </a:solidFill>
              </a:rPr>
              <a:t>IP usage</a:t>
            </a:r>
            <a:endParaRPr lang="en-US" sz="2000" dirty="0"/>
          </a:p>
        </p:txBody>
      </p:sp>
      <p:sp>
        <p:nvSpPr>
          <p:cNvPr id="15" name="Text 11"/>
          <p:cNvSpPr txBox="1"/>
          <p:nvPr/>
        </p:nvSpPr>
        <p:spPr>
          <a:xfrm>
            <a:off x="3547872" y="3246120"/>
            <a:ext cx="2240280" cy="228600"/>
          </a:xfrm>
          <a:prstGeom prst="rect">
            <a:avLst/>
          </a:prstGeom>
          <a:noFill/>
          <a:ln/>
        </p:spPr>
        <p:txBody>
          <a:bodyPr wrap="square" lIns="0" tIns="0" rIns="0" bIns="0" rtlCol="0" anchor="t"/>
          <a:lstStyle/>
          <a:p>
            <a:pPr indent="0" marL="0">
              <a:buNone/>
            </a:pPr>
            <a:r>
              <a:rPr lang="en-US" sz="1200" b="1" spc="200" kern="0" dirty="0">
                <a:solidFill>
                  <a:schemeClr val="accent6"/>
                </a:solidFill>
              </a:rPr>
              <a:t>TODAY</a:t>
            </a:r>
            <a:endParaRPr lang="en-US" sz="1200" dirty="0"/>
          </a:p>
        </p:txBody>
      </p:sp>
      <p:sp>
        <p:nvSpPr>
          <p:cNvPr id="16" name="Text 12"/>
          <p:cNvSpPr txBox="1"/>
          <p:nvPr/>
        </p:nvSpPr>
        <p:spPr>
          <a:xfrm>
            <a:off x="3547872" y="3520440"/>
            <a:ext cx="2240280" cy="1097280"/>
          </a:xfrm>
          <a:prstGeom prst="rect">
            <a:avLst/>
          </a:prstGeom>
          <a:noFill/>
          <a:ln/>
        </p:spPr>
        <p:txBody>
          <a:bodyPr wrap="square" lIns="0" tIns="0" rIns="0" bIns="0" rtlCol="0" anchor="t"/>
          <a:lstStyle/>
          <a:p>
            <a:pPr indent="0" marL="0">
              <a:buNone/>
            </a:pPr>
            <a:r>
              <a:rPr lang="en-US" sz="1400" dirty="0">
                <a:solidFill>
                  <a:schemeClr val="tx1"/>
                </a:solidFill>
              </a:rPr>
              <a:t>VPC CNI gives every pod a VPC IP</a:t>
            </a:r>
            <a:endParaRPr lang="en-US" sz="1400" dirty="0"/>
          </a:p>
        </p:txBody>
      </p:sp>
      <p:sp>
        <p:nvSpPr>
          <p:cNvPr id="17" name="Text 13"/>
          <p:cNvSpPr txBox="1"/>
          <p:nvPr/>
        </p:nvSpPr>
        <p:spPr>
          <a:xfrm>
            <a:off x="3547872" y="4754880"/>
            <a:ext cx="22402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CHANGE</a:t>
            </a:r>
            <a:endParaRPr lang="en-US" sz="1200" dirty="0"/>
          </a:p>
        </p:txBody>
      </p:sp>
      <p:sp>
        <p:nvSpPr>
          <p:cNvPr id="18" name="Text 14"/>
          <p:cNvSpPr txBox="1"/>
          <p:nvPr/>
        </p:nvSpPr>
        <p:spPr>
          <a:xfrm>
            <a:off x="3547872" y="5029200"/>
            <a:ext cx="2240280" cy="822960"/>
          </a:xfrm>
          <a:prstGeom prst="rect">
            <a:avLst/>
          </a:prstGeom>
          <a:noFill/>
          <a:ln/>
        </p:spPr>
        <p:txBody>
          <a:bodyPr wrap="square" lIns="0" tIns="0" rIns="0" bIns="0" rtlCol="0" anchor="t"/>
          <a:lstStyle/>
          <a:p>
            <a:pPr indent="0" marL="0">
              <a:buNone/>
            </a:pPr>
            <a:r>
              <a:rPr lang="en-US" sz="1600" b="1" dirty="0">
                <a:solidFill>
                  <a:schemeClr val="accent1"/>
                </a:solidFill>
              </a:rPr>
              <a:t>Cilium with its own pod CIDR</a:t>
            </a:r>
            <a:endParaRPr lang="en-US" sz="1600" dirty="0"/>
          </a:p>
        </p:txBody>
      </p:sp>
      <p:sp>
        <p:nvSpPr>
          <p:cNvPr id="19" name="Card Many clusters"/>
          <p:cNvSpPr/>
          <p:nvPr/>
        </p:nvSpPr>
        <p:spPr>
          <a:xfrm>
            <a:off x="6181344" y="1554480"/>
            <a:ext cx="2606040" cy="4480560"/>
          </a:xfrm>
          <a:prstGeom prst="roundRect">
            <a:avLst>
              <a:gd name="adj" fmla="val 4211"/>
            </a:avLst>
          </a:prstGeom>
          <a:solidFill>
            <a:schemeClr val="bg2"/>
          </a:solidFill>
          <a:ln/>
        </p:spPr>
      </p:sp>
      <p:sp>
        <p:nvSpPr>
          <p:cNvPr id="20" name="Many clusters circle"/>
          <p:cNvSpPr/>
          <p:nvPr/>
        </p:nvSpPr>
        <p:spPr>
          <a:xfrm>
            <a:off x="6364224" y="1783080"/>
            <a:ext cx="685800" cy="685800"/>
          </a:xfrm>
          <a:prstGeom prst="ellipse">
            <a:avLst/>
          </a:prstGeom>
          <a:solidFill>
            <a:schemeClr val="accent1"/>
          </a:solidFill>
          <a:ln/>
        </p:spPr>
      </p:sp>
      <p:pic>
        <p:nvPicPr>
          <p:cNvPr id="21" name="Many clusters icon" descr="Many clusters">    </p:cNvPr>
          <p:cNvPicPr>
            <a:picLocks noChangeAspect="1"/>
          </p:cNvPicPr>
          <p:nvPr/>
        </p:nvPicPr>
        <p:blipFill>
          <a:blip r:embed="rId3"/>
          <a:stretch>
            <a:fillRect/>
          </a:stretch>
        </p:blipFill>
        <p:spPr>
          <a:xfrm>
            <a:off x="6535674" y="1954530"/>
            <a:ext cx="342900" cy="342900"/>
          </a:xfrm>
          <a:prstGeom prst="rect">
            <a:avLst/>
          </a:prstGeom>
        </p:spPr>
      </p:pic>
      <p:sp>
        <p:nvSpPr>
          <p:cNvPr id="22" name="Text 17"/>
          <p:cNvSpPr txBox="1"/>
          <p:nvPr/>
        </p:nvSpPr>
        <p:spPr>
          <a:xfrm>
            <a:off x="6364224" y="2697480"/>
            <a:ext cx="2240280" cy="457200"/>
          </a:xfrm>
          <a:prstGeom prst="rect">
            <a:avLst/>
          </a:prstGeom>
          <a:noFill/>
          <a:ln/>
        </p:spPr>
        <p:txBody>
          <a:bodyPr wrap="square" lIns="0" tIns="0" rIns="0" bIns="0" rtlCol="0" anchor="t"/>
          <a:lstStyle/>
          <a:p>
            <a:pPr indent="0" marL="0">
              <a:buNone/>
            </a:pPr>
            <a:r>
              <a:rPr lang="en-US" sz="2000" b="1" dirty="0">
                <a:solidFill>
                  <a:schemeClr val="tx2"/>
                </a:solidFill>
              </a:rPr>
              <a:t>Many clusters</a:t>
            </a:r>
            <a:endParaRPr lang="en-US" sz="2000" dirty="0"/>
          </a:p>
        </p:txBody>
      </p:sp>
      <p:sp>
        <p:nvSpPr>
          <p:cNvPr id="23" name="Text 18"/>
          <p:cNvSpPr txBox="1"/>
          <p:nvPr/>
        </p:nvSpPr>
        <p:spPr>
          <a:xfrm>
            <a:off x="6364224" y="3246120"/>
            <a:ext cx="2240280" cy="228600"/>
          </a:xfrm>
          <a:prstGeom prst="rect">
            <a:avLst/>
          </a:prstGeom>
          <a:noFill/>
          <a:ln/>
        </p:spPr>
        <p:txBody>
          <a:bodyPr wrap="square" lIns="0" tIns="0" rIns="0" bIns="0" rtlCol="0" anchor="t"/>
          <a:lstStyle/>
          <a:p>
            <a:pPr indent="0" marL="0">
              <a:buNone/>
            </a:pPr>
            <a:r>
              <a:rPr lang="en-US" sz="1200" b="1" spc="200" kern="0" dirty="0">
                <a:solidFill>
                  <a:schemeClr val="accent6"/>
                </a:solidFill>
              </a:rPr>
              <a:t>TODAY</a:t>
            </a:r>
            <a:endParaRPr lang="en-US" sz="1200" dirty="0"/>
          </a:p>
        </p:txBody>
      </p:sp>
      <p:sp>
        <p:nvSpPr>
          <p:cNvPr id="24" name="Text 19"/>
          <p:cNvSpPr txBox="1"/>
          <p:nvPr/>
        </p:nvSpPr>
        <p:spPr>
          <a:xfrm>
            <a:off x="6364224" y="3520440"/>
            <a:ext cx="2240280" cy="1097280"/>
          </a:xfrm>
          <a:prstGeom prst="rect">
            <a:avLst/>
          </a:prstGeom>
          <a:noFill/>
          <a:ln/>
        </p:spPr>
        <p:txBody>
          <a:bodyPr wrap="square" lIns="0" tIns="0" rIns="0" bIns="0" rtlCol="0" anchor="t"/>
          <a:lstStyle/>
          <a:p>
            <a:pPr indent="0" marL="0">
              <a:buNone/>
            </a:pPr>
            <a:r>
              <a:rPr lang="en-US" sz="1400" dirty="0">
                <a:solidFill>
                  <a:schemeClr val="tx1"/>
                </a:solidFill>
              </a:rPr>
              <a:t>Lots of small clusters, no shared service layer</a:t>
            </a:r>
            <a:endParaRPr lang="en-US" sz="1400" dirty="0"/>
          </a:p>
        </p:txBody>
      </p:sp>
      <p:sp>
        <p:nvSpPr>
          <p:cNvPr id="25" name="Text 20"/>
          <p:cNvSpPr txBox="1"/>
          <p:nvPr/>
        </p:nvSpPr>
        <p:spPr>
          <a:xfrm>
            <a:off x="6364224" y="4754880"/>
            <a:ext cx="22402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CHANGE</a:t>
            </a:r>
            <a:endParaRPr lang="en-US" sz="1200" dirty="0"/>
          </a:p>
        </p:txBody>
      </p:sp>
      <p:sp>
        <p:nvSpPr>
          <p:cNvPr id="26" name="Text 21"/>
          <p:cNvSpPr txBox="1"/>
          <p:nvPr/>
        </p:nvSpPr>
        <p:spPr>
          <a:xfrm>
            <a:off x="6364224" y="5029200"/>
            <a:ext cx="2240280" cy="822960"/>
          </a:xfrm>
          <a:prstGeom prst="rect">
            <a:avLst/>
          </a:prstGeom>
          <a:noFill/>
          <a:ln/>
        </p:spPr>
        <p:txBody>
          <a:bodyPr wrap="square" lIns="0" tIns="0" rIns="0" bIns="0" rtlCol="0" anchor="t"/>
          <a:lstStyle/>
          <a:p>
            <a:pPr indent="0" marL="0">
              <a:buNone/>
            </a:pPr>
            <a:r>
              <a:rPr lang="en-US" sz="1600" b="1" dirty="0">
                <a:solidFill>
                  <a:schemeClr val="accent1"/>
                </a:solidFill>
              </a:rPr>
              <a:t>Cilium Cluster Mesh</a:t>
            </a:r>
            <a:endParaRPr lang="en-US" sz="1600" dirty="0"/>
          </a:p>
        </p:txBody>
      </p:sp>
      <p:sp>
        <p:nvSpPr>
          <p:cNvPr id="27" name="Card Nodes"/>
          <p:cNvSpPr/>
          <p:nvPr/>
        </p:nvSpPr>
        <p:spPr>
          <a:xfrm>
            <a:off x="8997696" y="1554480"/>
            <a:ext cx="2606040" cy="4480560"/>
          </a:xfrm>
          <a:prstGeom prst="roundRect">
            <a:avLst>
              <a:gd name="adj" fmla="val 4211"/>
            </a:avLst>
          </a:prstGeom>
          <a:solidFill>
            <a:schemeClr val="bg2"/>
          </a:solidFill>
          <a:ln/>
        </p:spPr>
      </p:sp>
      <p:sp>
        <p:nvSpPr>
          <p:cNvPr id="28" name="Nodes circle"/>
          <p:cNvSpPr/>
          <p:nvPr/>
        </p:nvSpPr>
        <p:spPr>
          <a:xfrm>
            <a:off x="9180576" y="1783080"/>
            <a:ext cx="685800" cy="685800"/>
          </a:xfrm>
          <a:prstGeom prst="ellipse">
            <a:avLst/>
          </a:prstGeom>
          <a:solidFill>
            <a:schemeClr val="accent1"/>
          </a:solidFill>
          <a:ln/>
        </p:spPr>
      </p:sp>
      <p:pic>
        <p:nvPicPr>
          <p:cNvPr id="29" name="Nodes icon" descr="Nodes">    </p:cNvPr>
          <p:cNvPicPr>
            <a:picLocks noChangeAspect="1"/>
          </p:cNvPicPr>
          <p:nvPr/>
        </p:nvPicPr>
        <p:blipFill>
          <a:blip r:embed="rId4"/>
          <a:stretch>
            <a:fillRect/>
          </a:stretch>
        </p:blipFill>
        <p:spPr>
          <a:xfrm>
            <a:off x="9352026" y="1954530"/>
            <a:ext cx="342900" cy="342900"/>
          </a:xfrm>
          <a:prstGeom prst="rect">
            <a:avLst/>
          </a:prstGeom>
        </p:spPr>
      </p:pic>
      <p:sp>
        <p:nvSpPr>
          <p:cNvPr id="30" name="Text 24"/>
          <p:cNvSpPr txBox="1"/>
          <p:nvPr/>
        </p:nvSpPr>
        <p:spPr>
          <a:xfrm>
            <a:off x="9180576" y="2697480"/>
            <a:ext cx="2240280" cy="457200"/>
          </a:xfrm>
          <a:prstGeom prst="rect">
            <a:avLst/>
          </a:prstGeom>
          <a:noFill/>
          <a:ln/>
        </p:spPr>
        <p:txBody>
          <a:bodyPr wrap="square" lIns="0" tIns="0" rIns="0" bIns="0" rtlCol="0" anchor="t"/>
          <a:lstStyle/>
          <a:p>
            <a:pPr indent="0" marL="0">
              <a:buNone/>
            </a:pPr>
            <a:r>
              <a:rPr lang="en-US" sz="2000" b="1" dirty="0">
                <a:solidFill>
                  <a:schemeClr val="tx2"/>
                </a:solidFill>
              </a:rPr>
              <a:t>Nodes</a:t>
            </a:r>
            <a:endParaRPr lang="en-US" sz="2000" dirty="0"/>
          </a:p>
        </p:txBody>
      </p:sp>
      <p:sp>
        <p:nvSpPr>
          <p:cNvPr id="31" name="Text 25"/>
          <p:cNvSpPr txBox="1"/>
          <p:nvPr/>
        </p:nvSpPr>
        <p:spPr>
          <a:xfrm>
            <a:off x="9180576" y="3246120"/>
            <a:ext cx="2240280" cy="228600"/>
          </a:xfrm>
          <a:prstGeom prst="rect">
            <a:avLst/>
          </a:prstGeom>
          <a:noFill/>
          <a:ln/>
        </p:spPr>
        <p:txBody>
          <a:bodyPr wrap="square" lIns="0" tIns="0" rIns="0" bIns="0" rtlCol="0" anchor="t"/>
          <a:lstStyle/>
          <a:p>
            <a:pPr indent="0" marL="0">
              <a:buNone/>
            </a:pPr>
            <a:r>
              <a:rPr lang="en-US" sz="1200" b="1" spc="200" kern="0" dirty="0">
                <a:solidFill>
                  <a:schemeClr val="accent6"/>
                </a:solidFill>
              </a:rPr>
              <a:t>TODAY</a:t>
            </a:r>
            <a:endParaRPr lang="en-US" sz="1200" dirty="0"/>
          </a:p>
        </p:txBody>
      </p:sp>
      <p:sp>
        <p:nvSpPr>
          <p:cNvPr id="32" name="Text 26"/>
          <p:cNvSpPr txBox="1"/>
          <p:nvPr/>
        </p:nvSpPr>
        <p:spPr>
          <a:xfrm>
            <a:off x="9180576" y="3520440"/>
            <a:ext cx="2240280" cy="1097280"/>
          </a:xfrm>
          <a:prstGeom prst="rect">
            <a:avLst/>
          </a:prstGeom>
          <a:noFill/>
          <a:ln/>
        </p:spPr>
        <p:txBody>
          <a:bodyPr wrap="square" lIns="0" tIns="0" rIns="0" bIns="0" rtlCol="0" anchor="t"/>
          <a:lstStyle/>
          <a:p>
            <a:pPr indent="0" marL="0">
              <a:buNone/>
            </a:pPr>
            <a:r>
              <a:rPr lang="en-US" sz="1400" dirty="0">
                <a:solidFill>
                  <a:schemeClr val="tx1"/>
                </a:solidFill>
              </a:rPr>
              <a:t>Brupop updates in place; instance types fixed up front</a:t>
            </a:r>
            <a:endParaRPr lang="en-US" sz="1400" dirty="0"/>
          </a:p>
        </p:txBody>
      </p:sp>
      <p:sp>
        <p:nvSpPr>
          <p:cNvPr id="33" name="Text 27"/>
          <p:cNvSpPr txBox="1"/>
          <p:nvPr/>
        </p:nvSpPr>
        <p:spPr>
          <a:xfrm>
            <a:off x="9180576" y="4754880"/>
            <a:ext cx="224028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CHANGE</a:t>
            </a:r>
            <a:endParaRPr lang="en-US" sz="1200" dirty="0"/>
          </a:p>
        </p:txBody>
      </p:sp>
      <p:sp>
        <p:nvSpPr>
          <p:cNvPr id="34" name="Text 28"/>
          <p:cNvSpPr txBox="1"/>
          <p:nvPr/>
        </p:nvSpPr>
        <p:spPr>
          <a:xfrm>
            <a:off x="9180576" y="5029200"/>
            <a:ext cx="2240280" cy="822960"/>
          </a:xfrm>
          <a:prstGeom prst="rect">
            <a:avLst/>
          </a:prstGeom>
          <a:noFill/>
          <a:ln/>
        </p:spPr>
        <p:txBody>
          <a:bodyPr wrap="square" lIns="0" tIns="0" rIns="0" bIns="0" rtlCol="0" anchor="t"/>
          <a:lstStyle/>
          <a:p>
            <a:pPr indent="0" marL="0">
              <a:buNone/>
            </a:pPr>
            <a:r>
              <a:rPr lang="en-US" sz="1600" b="1" dirty="0">
                <a:solidFill>
                  <a:schemeClr val="accent1"/>
                </a:solidFill>
              </a:rPr>
              <a:t>Karpenter</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Add-on upgrades: move them into Git</a:t>
            </a:r>
            <a:endParaRPr lang="en-US" sz="3600" dirty="0"/>
          </a:p>
        </p:txBody>
      </p:sp>
      <p:sp>
        <p:nvSpPr>
          <p:cNvPr id="3" name="Flow Git"/>
          <p:cNvSpPr/>
          <p:nvPr/>
        </p:nvSpPr>
        <p:spPr>
          <a:xfrm>
            <a:off x="548640" y="1508760"/>
            <a:ext cx="3108960" cy="1280160"/>
          </a:xfrm>
          <a:prstGeom prst="roundRect">
            <a:avLst>
              <a:gd name="adj" fmla="val 8571"/>
            </a:avLst>
          </a:prstGeom>
          <a:solidFill>
            <a:schemeClr val="tx2"/>
          </a:solidFill>
          <a:ln/>
        </p:spPr>
      </p:sp>
      <p:sp>
        <p:nvSpPr>
          <p:cNvPr id="4" name="Text 2"/>
          <p:cNvSpPr txBox="1"/>
          <p:nvPr/>
        </p:nvSpPr>
        <p:spPr>
          <a:xfrm>
            <a:off x="731520" y="1508760"/>
            <a:ext cx="2743200" cy="1280160"/>
          </a:xfrm>
          <a:prstGeom prst="rect">
            <a:avLst/>
          </a:prstGeom>
          <a:noFill/>
          <a:ln/>
        </p:spPr>
        <p:txBody>
          <a:bodyPr wrap="square" lIns="0" tIns="0" rIns="0" bIns="0" rtlCol="0" anchor="ctr"/>
          <a:lstStyle/>
          <a:p>
            <a:pPr algn="ctr" indent="0" marL="0">
              <a:buNone/>
            </a:pPr>
            <a:r>
              <a:rPr lang="en-US" sz="1800" b="1" dirty="0">
                <a:solidFill>
                  <a:schemeClr val="bg1"/>
                </a:solidFill>
              </a:rPr>
              <a:t>Git</a:t>
            </a:r>
            <a:endParaRPr lang="en-US" sz="1800" dirty="0"/>
          </a:p>
          <a:p>
            <a:pPr algn="ctr" indent="0" marL="0">
              <a:buNone/>
            </a:pPr>
            <a:r>
              <a:rPr lang="en-US" sz="1400" dirty="0">
                <a:solidFill>
                  <a:schemeClr val="bg1"/>
                </a:solidFill>
              </a:rPr>
              <a:t>Bump the add-on version</a:t>
            </a:r>
            <a:endParaRPr lang="en-US" sz="1800" dirty="0"/>
          </a:p>
        </p:txBody>
      </p:sp>
      <p:sp>
        <p:nvSpPr>
          <p:cNvPr id="5" name="Flow arrow 1"/>
          <p:cNvSpPr/>
          <p:nvPr/>
        </p:nvSpPr>
        <p:spPr>
          <a:xfrm>
            <a:off x="3794760" y="1965960"/>
            <a:ext cx="594360" cy="365760"/>
          </a:xfrm>
          <a:prstGeom prst="rightArrow">
            <a:avLst/>
          </a:prstGeom>
          <a:solidFill>
            <a:schemeClr val="accent2"/>
          </a:solidFill>
          <a:ln/>
        </p:spPr>
      </p:sp>
      <p:sp>
        <p:nvSpPr>
          <p:cNvPr id="6" name="Flow Argo CD ApplicationSets"/>
          <p:cNvSpPr/>
          <p:nvPr/>
        </p:nvSpPr>
        <p:spPr>
          <a:xfrm>
            <a:off x="4526280" y="1508760"/>
            <a:ext cx="3108960" cy="1280160"/>
          </a:xfrm>
          <a:prstGeom prst="roundRect">
            <a:avLst>
              <a:gd name="adj" fmla="val 8571"/>
            </a:avLst>
          </a:prstGeom>
          <a:solidFill>
            <a:schemeClr val="accent1"/>
          </a:solidFill>
          <a:ln/>
        </p:spPr>
      </p:sp>
      <p:sp>
        <p:nvSpPr>
          <p:cNvPr id="7" name="Text 5"/>
          <p:cNvSpPr txBox="1"/>
          <p:nvPr/>
        </p:nvSpPr>
        <p:spPr>
          <a:xfrm>
            <a:off x="4709160" y="1508760"/>
            <a:ext cx="2743200" cy="1280160"/>
          </a:xfrm>
          <a:prstGeom prst="rect">
            <a:avLst/>
          </a:prstGeom>
          <a:noFill/>
          <a:ln/>
        </p:spPr>
        <p:txBody>
          <a:bodyPr wrap="square" lIns="0" tIns="0" rIns="0" bIns="0" rtlCol="0" anchor="ctr"/>
          <a:lstStyle/>
          <a:p>
            <a:pPr algn="ctr" indent="0" marL="0">
              <a:buNone/>
            </a:pPr>
            <a:r>
              <a:rPr lang="en-US" sz="1800" b="1" dirty="0">
                <a:solidFill>
                  <a:schemeClr val="bg1"/>
                </a:solidFill>
              </a:rPr>
              <a:t>Argo CD ApplicationSets</a:t>
            </a:r>
            <a:endParaRPr lang="en-US" sz="1800" dirty="0"/>
          </a:p>
          <a:p>
            <a:pPr algn="ctr" indent="0" marL="0">
              <a:buNone/>
            </a:pPr>
            <a:r>
              <a:rPr lang="en-US" sz="1400" dirty="0">
                <a:solidFill>
                  <a:schemeClr val="bg1"/>
                </a:solidFill>
              </a:rPr>
              <a:t>Render per cluster</a:t>
            </a:r>
            <a:endParaRPr lang="en-US" sz="1800" dirty="0"/>
          </a:p>
        </p:txBody>
      </p:sp>
      <p:sp>
        <p:nvSpPr>
          <p:cNvPr id="8" name="Flow arrow 2"/>
          <p:cNvSpPr/>
          <p:nvPr/>
        </p:nvSpPr>
        <p:spPr>
          <a:xfrm>
            <a:off x="7772400" y="1965960"/>
            <a:ext cx="594360" cy="365760"/>
          </a:xfrm>
          <a:prstGeom prst="rightArrow">
            <a:avLst/>
          </a:prstGeom>
          <a:solidFill>
            <a:schemeClr val="accent2"/>
          </a:solidFill>
          <a:ln/>
        </p:spPr>
      </p:sp>
      <p:sp>
        <p:nvSpPr>
          <p:cNvPr id="9" name="Flow Every cluster"/>
          <p:cNvSpPr/>
          <p:nvPr/>
        </p:nvSpPr>
        <p:spPr>
          <a:xfrm>
            <a:off x="8503920" y="1508760"/>
            <a:ext cx="3108960" cy="1280160"/>
          </a:xfrm>
          <a:prstGeom prst="roundRect">
            <a:avLst>
              <a:gd name="adj" fmla="val 8571"/>
            </a:avLst>
          </a:prstGeom>
          <a:solidFill>
            <a:schemeClr val="tx2"/>
          </a:solidFill>
          <a:ln/>
        </p:spPr>
      </p:sp>
      <p:sp>
        <p:nvSpPr>
          <p:cNvPr id="10" name="Text 8"/>
          <p:cNvSpPr txBox="1"/>
          <p:nvPr/>
        </p:nvSpPr>
        <p:spPr>
          <a:xfrm>
            <a:off x="8686800" y="1508760"/>
            <a:ext cx="2743200" cy="1280160"/>
          </a:xfrm>
          <a:prstGeom prst="rect">
            <a:avLst/>
          </a:prstGeom>
          <a:noFill/>
          <a:ln/>
        </p:spPr>
        <p:txBody>
          <a:bodyPr wrap="square" lIns="0" tIns="0" rIns="0" bIns="0" rtlCol="0" anchor="ctr"/>
          <a:lstStyle/>
          <a:p>
            <a:pPr algn="ctr" indent="0" marL="0">
              <a:buNone/>
            </a:pPr>
            <a:r>
              <a:rPr lang="en-US" sz="1800" b="1" dirty="0">
                <a:solidFill>
                  <a:schemeClr val="bg1"/>
                </a:solidFill>
              </a:rPr>
              <a:t>Every cluster</a:t>
            </a:r>
            <a:endParaRPr lang="en-US" sz="1800" dirty="0"/>
          </a:p>
          <a:p>
            <a:pPr algn="ctr" indent="0" marL="0">
              <a:buNone/>
            </a:pPr>
            <a:r>
              <a:rPr lang="en-US" sz="1400" dirty="0">
                <a:solidFill>
                  <a:schemeClr val="bg1"/>
                </a:solidFill>
              </a:rPr>
              <a:t>Rolled out in waves</a:t>
            </a:r>
            <a:endParaRPr lang="en-US" sz="1800" dirty="0"/>
          </a:p>
        </p:txBody>
      </p:sp>
      <p:sp>
        <p:nvSpPr>
          <p:cNvPr id="11" name="Problem card"/>
          <p:cNvSpPr/>
          <p:nvPr/>
        </p:nvSpPr>
        <p:spPr>
          <a:xfrm>
            <a:off x="548640" y="3108960"/>
            <a:ext cx="5212080" cy="2651760"/>
          </a:xfrm>
          <a:prstGeom prst="roundRect">
            <a:avLst>
              <a:gd name="adj" fmla="val 4138"/>
            </a:avLst>
          </a:prstGeom>
          <a:solidFill>
            <a:schemeClr val="bg2"/>
          </a:solidFill>
          <a:ln/>
        </p:spPr>
      </p:sp>
      <p:sp>
        <p:nvSpPr>
          <p:cNvPr id="12" name="Text 10"/>
          <p:cNvSpPr txBox="1"/>
          <p:nvPr/>
        </p:nvSpPr>
        <p:spPr>
          <a:xfrm>
            <a:off x="822960" y="3291840"/>
            <a:ext cx="4663440" cy="365760"/>
          </a:xfrm>
          <a:prstGeom prst="rect">
            <a:avLst/>
          </a:prstGeom>
          <a:noFill/>
          <a:ln/>
        </p:spPr>
        <p:txBody>
          <a:bodyPr wrap="square" lIns="0" tIns="0" rIns="0" bIns="0" rtlCol="0" anchor="t"/>
          <a:lstStyle/>
          <a:p>
            <a:pPr indent="0" marL="0">
              <a:buNone/>
            </a:pPr>
            <a:r>
              <a:rPr lang="en-US" sz="2000" b="1" dirty="0">
                <a:solidFill>
                  <a:schemeClr val="accent5"/>
                </a:solidFill>
              </a:rPr>
              <a:t>The problem today</a:t>
            </a:r>
            <a:endParaRPr lang="en-US" sz="2000" dirty="0"/>
          </a:p>
        </p:txBody>
      </p:sp>
      <p:sp>
        <p:nvSpPr>
          <p:cNvPr id="13" name="Text 11"/>
          <p:cNvSpPr txBox="1"/>
          <p:nvPr/>
        </p:nvSpPr>
        <p:spPr>
          <a:xfrm>
            <a:off x="822960" y="3840480"/>
            <a:ext cx="466344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Add-ons are hard to upgrade</a:t>
            </a:r>
            <a:endParaRPr lang="en-US" sz="1600" dirty="0"/>
          </a:p>
          <a:p>
            <a:pPr marL="342900" indent="-342900">
              <a:spcAft>
                <a:spcPts val="800"/>
              </a:spcAft>
              <a:buSzPct val="100000"/>
              <a:buChar char="•"/>
            </a:pPr>
            <a:r>
              <a:rPr lang="en-US" sz="1600" dirty="0">
                <a:solidFill>
                  <a:schemeClr val="tx1"/>
                </a:solidFill>
              </a:rPr>
              <a:t>Every small cluster is its own upgrade</a:t>
            </a:r>
            <a:endParaRPr lang="en-US" sz="1600" dirty="0"/>
          </a:p>
          <a:p>
            <a:pPr marL="342900" indent="-342900">
              <a:spcAft>
                <a:spcPts val="800"/>
              </a:spcAft>
              <a:buSzPct val="100000"/>
              <a:buChar char="•"/>
            </a:pPr>
            <a:r>
              <a:rPr lang="en-US" sz="1600" dirty="0">
                <a:solidFill>
                  <a:schemeClr val="tx1"/>
                </a:solidFill>
              </a:rPr>
              <a:t>Versions can drift between clusters</a:t>
            </a:r>
            <a:endParaRPr lang="en-US" sz="1600" dirty="0"/>
          </a:p>
        </p:txBody>
      </p:sp>
      <p:sp>
        <p:nvSpPr>
          <p:cNvPr id="14" name="GitOps card"/>
          <p:cNvSpPr/>
          <p:nvPr/>
        </p:nvSpPr>
        <p:spPr>
          <a:xfrm>
            <a:off x="6035040" y="3108960"/>
            <a:ext cx="5577840" cy="2651760"/>
          </a:xfrm>
          <a:prstGeom prst="roundRect">
            <a:avLst>
              <a:gd name="adj" fmla="val 4138"/>
            </a:avLst>
          </a:prstGeom>
          <a:solidFill>
            <a:schemeClr val="bg2"/>
          </a:solidFill>
          <a:ln/>
        </p:spPr>
      </p:sp>
      <p:sp>
        <p:nvSpPr>
          <p:cNvPr id="15" name="Text 13"/>
          <p:cNvSpPr txBox="1"/>
          <p:nvPr/>
        </p:nvSpPr>
        <p:spPr>
          <a:xfrm>
            <a:off x="6309360" y="3291840"/>
            <a:ext cx="5029200" cy="365760"/>
          </a:xfrm>
          <a:prstGeom prst="rect">
            <a:avLst/>
          </a:prstGeom>
          <a:noFill/>
          <a:ln/>
        </p:spPr>
        <p:txBody>
          <a:bodyPr wrap="square" lIns="0" tIns="0" rIns="0" bIns="0" rtlCol="0" anchor="t"/>
          <a:lstStyle/>
          <a:p>
            <a:pPr indent="0" marL="0">
              <a:buNone/>
            </a:pPr>
            <a:r>
              <a:rPr lang="en-US" sz="2000" b="1" dirty="0">
                <a:solidFill>
                  <a:schemeClr val="accent1"/>
                </a:solidFill>
              </a:rPr>
              <a:t>What GitOps gives us</a:t>
            </a:r>
            <a:endParaRPr lang="en-US" sz="2000" dirty="0"/>
          </a:p>
        </p:txBody>
      </p:sp>
      <p:sp>
        <p:nvSpPr>
          <p:cNvPr id="16" name="Text 14"/>
          <p:cNvSpPr txBox="1"/>
          <p:nvPr/>
        </p:nvSpPr>
        <p:spPr>
          <a:xfrm>
            <a:off x="6309360" y="384048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One version bump in Git, rolled out by ApplicationSets</a:t>
            </a:r>
            <a:endParaRPr lang="en-US" sz="1600" dirty="0"/>
          </a:p>
          <a:p>
            <a:pPr marL="342900" indent="-342900">
              <a:spcAft>
                <a:spcPts val="800"/>
              </a:spcAft>
              <a:buSzPct val="100000"/>
              <a:buChar char="•"/>
            </a:pPr>
            <a:r>
              <a:rPr lang="en-US" sz="1600" dirty="0">
                <a:solidFill>
                  <a:schemeClr val="tx1"/>
                </a:solidFill>
              </a:rPr>
              <a:t>Non-prod first, then wider waves</a:t>
            </a:r>
            <a:endParaRPr lang="en-US" sz="1600" dirty="0"/>
          </a:p>
          <a:p>
            <a:pPr marL="342900" indent="-342900">
              <a:spcAft>
                <a:spcPts val="800"/>
              </a:spcAft>
              <a:buSzPct val="100000"/>
              <a:buChar char="•"/>
            </a:pPr>
            <a:r>
              <a:rPr lang="en-US" sz="1600" dirty="0">
                <a:solidFill>
                  <a:schemeClr val="tx1"/>
                </a:solidFill>
              </a:rPr>
              <a:t>Rollback is a git revert</a:t>
            </a:r>
            <a:endParaRPr lang="en-US" sz="1600" dirty="0"/>
          </a:p>
          <a:p>
            <a:pPr marL="342900" indent="-342900">
              <a:spcAft>
                <a:spcPts val="800"/>
              </a:spcAft>
              <a:buSzPct val="100000"/>
              <a:buChar char="•"/>
            </a:pPr>
            <a:r>
              <a:rPr lang="en-US" sz="1600" dirty="0">
                <a:solidFill>
                  <a:schemeClr val="tx1"/>
                </a:solidFill>
              </a:rPr>
              <a:t>Drift is detected; Git history is the audit trail</a:t>
            </a:r>
            <a:endParaRPr lang="en-US" sz="1600" dirty="0"/>
          </a:p>
        </p:txBody>
      </p:sp>
      <p:sp>
        <p:nvSpPr>
          <p:cNvPr id="17" name="Text 15"/>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dirty="0">
                <a:solidFill>
                  <a:schemeClr val="accent6"/>
                </a:solidFill>
              </a:rPr>
              <a:t>Builds on the central Argo CD bootstrap pattern already designed for Brupop and the AWS Load Balancer Controller.</a:t>
            </a:r>
            <a:endParaRPr lang="en-US" sz="12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VPC CNI is consuming a lot of IPs</a:t>
            </a:r>
            <a:endParaRPr lang="en-US" sz="3600" dirty="0"/>
          </a:p>
        </p:txBody>
      </p:sp>
      <p:sp>
        <p:nvSpPr>
          <p:cNvPr id="3" name="IP comparison panel"/>
          <p:cNvSpPr/>
          <p:nvPr/>
        </p:nvSpPr>
        <p:spPr>
          <a:xfrm>
            <a:off x="548640" y="1508760"/>
            <a:ext cx="6675120" cy="4389120"/>
          </a:xfrm>
          <a:prstGeom prst="roundRect">
            <a:avLst>
              <a:gd name="adj" fmla="val 2500"/>
            </a:avLst>
          </a:prstGeom>
          <a:solidFill>
            <a:schemeClr val="bg2"/>
          </a:solidFill>
          <a:ln/>
        </p:spPr>
      </p:sp>
      <p:sp>
        <p:nvSpPr>
          <p:cNvPr id="4" name="Text 2"/>
          <p:cNvSpPr txBox="1"/>
          <p:nvPr/>
        </p:nvSpPr>
        <p:spPr>
          <a:xfrm>
            <a:off x="822960" y="1691640"/>
            <a:ext cx="2926080" cy="365760"/>
          </a:xfrm>
          <a:prstGeom prst="rect">
            <a:avLst/>
          </a:prstGeom>
          <a:noFill/>
          <a:ln/>
        </p:spPr>
        <p:txBody>
          <a:bodyPr wrap="square" lIns="0" tIns="0" rIns="0" bIns="0" rtlCol="0" anchor="t"/>
          <a:lstStyle/>
          <a:p>
            <a:pPr indent="0" marL="0">
              <a:buNone/>
            </a:pPr>
            <a:r>
              <a:rPr lang="en-US" sz="1800" b="1" dirty="0">
                <a:solidFill>
                  <a:schemeClr val="tx2"/>
                </a:solidFill>
              </a:rPr>
              <a:t>VPC CNI</a:t>
            </a:r>
            <a:endParaRPr lang="en-US" sz="1800" dirty="0"/>
          </a:p>
        </p:txBody>
      </p:sp>
      <p:sp>
        <p:nvSpPr>
          <p:cNvPr id="5" name="Text 3"/>
          <p:cNvSpPr txBox="1"/>
          <p:nvPr/>
        </p:nvSpPr>
        <p:spPr>
          <a:xfrm>
            <a:off x="4023360" y="1691640"/>
            <a:ext cx="2926080" cy="365760"/>
          </a:xfrm>
          <a:prstGeom prst="rect">
            <a:avLst/>
          </a:prstGeom>
          <a:noFill/>
          <a:ln/>
        </p:spPr>
        <p:txBody>
          <a:bodyPr wrap="square" lIns="0" tIns="0" rIns="0" bIns="0" rtlCol="0" anchor="t"/>
          <a:lstStyle/>
          <a:p>
            <a:pPr indent="0" marL="0">
              <a:buNone/>
            </a:pPr>
            <a:r>
              <a:rPr lang="en-US" sz="1800" b="1" dirty="0">
                <a:solidFill>
                  <a:schemeClr val="tx2"/>
                </a:solidFill>
              </a:rPr>
              <a:t>Cilium overlay</a:t>
            </a:r>
            <a:endParaRPr lang="en-US" sz="1800" dirty="0"/>
          </a:p>
        </p:txBody>
      </p:sp>
      <p:sp>
        <p:nvSpPr>
          <p:cNvPr id="6" name="IP cell"/>
          <p:cNvSpPr/>
          <p:nvPr/>
        </p:nvSpPr>
        <p:spPr>
          <a:xfrm>
            <a:off x="822960" y="2240280"/>
            <a:ext cx="274320" cy="274320"/>
          </a:xfrm>
          <a:prstGeom prst="rect">
            <a:avLst/>
          </a:prstGeom>
          <a:solidFill>
            <a:schemeClr val="accent1"/>
          </a:solidFill>
          <a:ln/>
        </p:spPr>
      </p:sp>
      <p:sp>
        <p:nvSpPr>
          <p:cNvPr id="7" name="IP cell"/>
          <p:cNvSpPr/>
          <p:nvPr/>
        </p:nvSpPr>
        <p:spPr>
          <a:xfrm>
            <a:off x="1152144" y="2240280"/>
            <a:ext cx="274320" cy="274320"/>
          </a:xfrm>
          <a:prstGeom prst="rect">
            <a:avLst/>
          </a:prstGeom>
          <a:solidFill>
            <a:schemeClr val="accent1"/>
          </a:solidFill>
          <a:ln/>
        </p:spPr>
      </p:sp>
      <p:sp>
        <p:nvSpPr>
          <p:cNvPr id="8" name="IP cell"/>
          <p:cNvSpPr/>
          <p:nvPr/>
        </p:nvSpPr>
        <p:spPr>
          <a:xfrm>
            <a:off x="1481328" y="2240280"/>
            <a:ext cx="274320" cy="274320"/>
          </a:xfrm>
          <a:prstGeom prst="rect">
            <a:avLst/>
          </a:prstGeom>
          <a:solidFill>
            <a:schemeClr val="accent1"/>
          </a:solidFill>
          <a:ln/>
        </p:spPr>
      </p:sp>
      <p:sp>
        <p:nvSpPr>
          <p:cNvPr id="9" name="IP cell"/>
          <p:cNvSpPr/>
          <p:nvPr/>
        </p:nvSpPr>
        <p:spPr>
          <a:xfrm>
            <a:off x="1810512" y="2240280"/>
            <a:ext cx="274320" cy="274320"/>
          </a:xfrm>
          <a:prstGeom prst="rect">
            <a:avLst/>
          </a:prstGeom>
          <a:solidFill>
            <a:schemeClr val="accent1"/>
          </a:solidFill>
          <a:ln/>
        </p:spPr>
      </p:sp>
      <p:sp>
        <p:nvSpPr>
          <p:cNvPr id="10" name="IP cell"/>
          <p:cNvSpPr/>
          <p:nvPr/>
        </p:nvSpPr>
        <p:spPr>
          <a:xfrm>
            <a:off x="2139696" y="2240280"/>
            <a:ext cx="274320" cy="274320"/>
          </a:xfrm>
          <a:prstGeom prst="rect">
            <a:avLst/>
          </a:prstGeom>
          <a:solidFill>
            <a:schemeClr val="accent2"/>
          </a:solidFill>
          <a:ln/>
        </p:spPr>
      </p:sp>
      <p:sp>
        <p:nvSpPr>
          <p:cNvPr id="11" name="IP cell"/>
          <p:cNvSpPr/>
          <p:nvPr/>
        </p:nvSpPr>
        <p:spPr>
          <a:xfrm>
            <a:off x="2468880" y="2240280"/>
            <a:ext cx="274320" cy="274320"/>
          </a:xfrm>
          <a:prstGeom prst="rect">
            <a:avLst/>
          </a:prstGeom>
          <a:solidFill>
            <a:schemeClr val="accent2"/>
          </a:solidFill>
          <a:ln/>
        </p:spPr>
      </p:sp>
      <p:sp>
        <p:nvSpPr>
          <p:cNvPr id="12" name="IP cell"/>
          <p:cNvSpPr/>
          <p:nvPr/>
        </p:nvSpPr>
        <p:spPr>
          <a:xfrm>
            <a:off x="2798064" y="2240280"/>
            <a:ext cx="274320" cy="274320"/>
          </a:xfrm>
          <a:prstGeom prst="rect">
            <a:avLst/>
          </a:prstGeom>
          <a:solidFill>
            <a:schemeClr val="accent2"/>
          </a:solidFill>
          <a:ln/>
        </p:spPr>
      </p:sp>
      <p:sp>
        <p:nvSpPr>
          <p:cNvPr id="13" name="IP cell"/>
          <p:cNvSpPr/>
          <p:nvPr/>
        </p:nvSpPr>
        <p:spPr>
          <a:xfrm>
            <a:off x="3127248" y="2240280"/>
            <a:ext cx="274320" cy="274320"/>
          </a:xfrm>
          <a:prstGeom prst="rect">
            <a:avLst/>
          </a:prstGeom>
          <a:solidFill>
            <a:schemeClr val="accent2"/>
          </a:solidFill>
          <a:ln/>
        </p:spPr>
      </p:sp>
      <p:sp>
        <p:nvSpPr>
          <p:cNvPr id="14" name="IP cell"/>
          <p:cNvSpPr/>
          <p:nvPr/>
        </p:nvSpPr>
        <p:spPr>
          <a:xfrm>
            <a:off x="822960" y="2569464"/>
            <a:ext cx="274320" cy="274320"/>
          </a:xfrm>
          <a:prstGeom prst="rect">
            <a:avLst/>
          </a:prstGeom>
          <a:solidFill>
            <a:schemeClr val="accent2"/>
          </a:solidFill>
          <a:ln/>
        </p:spPr>
      </p:sp>
      <p:sp>
        <p:nvSpPr>
          <p:cNvPr id="15" name="IP cell"/>
          <p:cNvSpPr/>
          <p:nvPr/>
        </p:nvSpPr>
        <p:spPr>
          <a:xfrm>
            <a:off x="1152144" y="2569464"/>
            <a:ext cx="274320" cy="274320"/>
          </a:xfrm>
          <a:prstGeom prst="rect">
            <a:avLst/>
          </a:prstGeom>
          <a:solidFill>
            <a:schemeClr val="accent2"/>
          </a:solidFill>
          <a:ln/>
        </p:spPr>
      </p:sp>
      <p:sp>
        <p:nvSpPr>
          <p:cNvPr id="16" name="IP cell"/>
          <p:cNvSpPr/>
          <p:nvPr/>
        </p:nvSpPr>
        <p:spPr>
          <a:xfrm>
            <a:off x="1481328" y="2569464"/>
            <a:ext cx="274320" cy="274320"/>
          </a:xfrm>
          <a:prstGeom prst="rect">
            <a:avLst/>
          </a:prstGeom>
          <a:solidFill>
            <a:schemeClr val="accent2"/>
          </a:solidFill>
          <a:ln/>
        </p:spPr>
      </p:sp>
      <p:sp>
        <p:nvSpPr>
          <p:cNvPr id="17" name="IP cell"/>
          <p:cNvSpPr/>
          <p:nvPr/>
        </p:nvSpPr>
        <p:spPr>
          <a:xfrm>
            <a:off x="1810512" y="2569464"/>
            <a:ext cx="274320" cy="274320"/>
          </a:xfrm>
          <a:prstGeom prst="rect">
            <a:avLst/>
          </a:prstGeom>
          <a:solidFill>
            <a:schemeClr val="accent2"/>
          </a:solidFill>
          <a:ln/>
        </p:spPr>
      </p:sp>
      <p:sp>
        <p:nvSpPr>
          <p:cNvPr id="18" name="IP cell"/>
          <p:cNvSpPr/>
          <p:nvPr/>
        </p:nvSpPr>
        <p:spPr>
          <a:xfrm>
            <a:off x="2139696" y="2569464"/>
            <a:ext cx="274320" cy="274320"/>
          </a:xfrm>
          <a:prstGeom prst="rect">
            <a:avLst/>
          </a:prstGeom>
          <a:solidFill>
            <a:schemeClr val="accent2"/>
          </a:solidFill>
          <a:ln/>
        </p:spPr>
      </p:sp>
      <p:sp>
        <p:nvSpPr>
          <p:cNvPr id="19" name="IP cell"/>
          <p:cNvSpPr/>
          <p:nvPr/>
        </p:nvSpPr>
        <p:spPr>
          <a:xfrm>
            <a:off x="2468880" y="2569464"/>
            <a:ext cx="274320" cy="274320"/>
          </a:xfrm>
          <a:prstGeom prst="rect">
            <a:avLst/>
          </a:prstGeom>
          <a:solidFill>
            <a:schemeClr val="accent2"/>
          </a:solidFill>
          <a:ln/>
        </p:spPr>
      </p:sp>
      <p:sp>
        <p:nvSpPr>
          <p:cNvPr id="20" name="IP cell"/>
          <p:cNvSpPr/>
          <p:nvPr/>
        </p:nvSpPr>
        <p:spPr>
          <a:xfrm>
            <a:off x="2798064" y="2569464"/>
            <a:ext cx="274320" cy="274320"/>
          </a:xfrm>
          <a:prstGeom prst="rect">
            <a:avLst/>
          </a:prstGeom>
          <a:solidFill>
            <a:schemeClr val="accent2"/>
          </a:solidFill>
          <a:ln/>
        </p:spPr>
      </p:sp>
      <p:sp>
        <p:nvSpPr>
          <p:cNvPr id="21" name="IP cell"/>
          <p:cNvSpPr/>
          <p:nvPr/>
        </p:nvSpPr>
        <p:spPr>
          <a:xfrm>
            <a:off x="3127248" y="2569464"/>
            <a:ext cx="274320" cy="274320"/>
          </a:xfrm>
          <a:prstGeom prst="rect">
            <a:avLst/>
          </a:prstGeom>
          <a:solidFill>
            <a:schemeClr val="accent2"/>
          </a:solidFill>
          <a:ln/>
        </p:spPr>
      </p:sp>
      <p:sp>
        <p:nvSpPr>
          <p:cNvPr id="22" name="IP cell"/>
          <p:cNvSpPr/>
          <p:nvPr/>
        </p:nvSpPr>
        <p:spPr>
          <a:xfrm>
            <a:off x="822960" y="2898648"/>
            <a:ext cx="274320" cy="274320"/>
          </a:xfrm>
          <a:prstGeom prst="rect">
            <a:avLst/>
          </a:prstGeom>
          <a:solidFill>
            <a:schemeClr val="accent2"/>
          </a:solidFill>
          <a:ln/>
        </p:spPr>
      </p:sp>
      <p:sp>
        <p:nvSpPr>
          <p:cNvPr id="23" name="IP cell"/>
          <p:cNvSpPr/>
          <p:nvPr/>
        </p:nvSpPr>
        <p:spPr>
          <a:xfrm>
            <a:off x="1152144" y="2898648"/>
            <a:ext cx="274320" cy="274320"/>
          </a:xfrm>
          <a:prstGeom prst="rect">
            <a:avLst/>
          </a:prstGeom>
          <a:solidFill>
            <a:schemeClr val="accent2"/>
          </a:solidFill>
          <a:ln/>
        </p:spPr>
      </p:sp>
      <p:sp>
        <p:nvSpPr>
          <p:cNvPr id="24" name="IP cell"/>
          <p:cNvSpPr/>
          <p:nvPr/>
        </p:nvSpPr>
        <p:spPr>
          <a:xfrm>
            <a:off x="1481328" y="2898648"/>
            <a:ext cx="274320" cy="274320"/>
          </a:xfrm>
          <a:prstGeom prst="rect">
            <a:avLst/>
          </a:prstGeom>
          <a:solidFill>
            <a:schemeClr val="accent2"/>
          </a:solidFill>
          <a:ln/>
        </p:spPr>
      </p:sp>
      <p:sp>
        <p:nvSpPr>
          <p:cNvPr id="25" name="IP cell"/>
          <p:cNvSpPr/>
          <p:nvPr/>
        </p:nvSpPr>
        <p:spPr>
          <a:xfrm>
            <a:off x="1810512" y="2898648"/>
            <a:ext cx="274320" cy="274320"/>
          </a:xfrm>
          <a:prstGeom prst="rect">
            <a:avLst/>
          </a:prstGeom>
          <a:solidFill>
            <a:schemeClr val="accent2"/>
          </a:solidFill>
          <a:ln/>
        </p:spPr>
      </p:sp>
      <p:sp>
        <p:nvSpPr>
          <p:cNvPr id="26" name="IP cell"/>
          <p:cNvSpPr/>
          <p:nvPr/>
        </p:nvSpPr>
        <p:spPr>
          <a:xfrm>
            <a:off x="2139696" y="2898648"/>
            <a:ext cx="274320" cy="274320"/>
          </a:xfrm>
          <a:prstGeom prst="rect">
            <a:avLst/>
          </a:prstGeom>
          <a:solidFill>
            <a:schemeClr val="accent2"/>
          </a:solidFill>
          <a:ln/>
        </p:spPr>
      </p:sp>
      <p:sp>
        <p:nvSpPr>
          <p:cNvPr id="27" name="IP cell"/>
          <p:cNvSpPr/>
          <p:nvPr/>
        </p:nvSpPr>
        <p:spPr>
          <a:xfrm>
            <a:off x="2468880" y="2898648"/>
            <a:ext cx="274320" cy="274320"/>
          </a:xfrm>
          <a:prstGeom prst="rect">
            <a:avLst/>
          </a:prstGeom>
          <a:solidFill>
            <a:schemeClr val="accent2"/>
          </a:solidFill>
          <a:ln/>
        </p:spPr>
      </p:sp>
      <p:sp>
        <p:nvSpPr>
          <p:cNvPr id="28" name="IP cell"/>
          <p:cNvSpPr/>
          <p:nvPr/>
        </p:nvSpPr>
        <p:spPr>
          <a:xfrm>
            <a:off x="2798064" y="2898648"/>
            <a:ext cx="274320" cy="274320"/>
          </a:xfrm>
          <a:prstGeom prst="rect">
            <a:avLst/>
          </a:prstGeom>
          <a:solidFill>
            <a:schemeClr val="accent2"/>
          </a:solidFill>
          <a:ln/>
        </p:spPr>
      </p:sp>
      <p:sp>
        <p:nvSpPr>
          <p:cNvPr id="29" name="IP cell"/>
          <p:cNvSpPr/>
          <p:nvPr/>
        </p:nvSpPr>
        <p:spPr>
          <a:xfrm>
            <a:off x="3127248" y="2898648"/>
            <a:ext cx="274320" cy="274320"/>
          </a:xfrm>
          <a:prstGeom prst="rect">
            <a:avLst/>
          </a:prstGeom>
          <a:solidFill>
            <a:schemeClr val="accent2"/>
          </a:solidFill>
          <a:ln/>
        </p:spPr>
      </p:sp>
      <p:sp>
        <p:nvSpPr>
          <p:cNvPr id="30" name="IP cell"/>
          <p:cNvSpPr/>
          <p:nvPr/>
        </p:nvSpPr>
        <p:spPr>
          <a:xfrm>
            <a:off x="822960" y="3227832"/>
            <a:ext cx="274320" cy="274320"/>
          </a:xfrm>
          <a:prstGeom prst="rect">
            <a:avLst/>
          </a:prstGeom>
          <a:solidFill>
            <a:schemeClr val="accent2"/>
          </a:solidFill>
          <a:ln/>
        </p:spPr>
      </p:sp>
      <p:sp>
        <p:nvSpPr>
          <p:cNvPr id="31" name="IP cell"/>
          <p:cNvSpPr/>
          <p:nvPr/>
        </p:nvSpPr>
        <p:spPr>
          <a:xfrm>
            <a:off x="1152144" y="3227832"/>
            <a:ext cx="274320" cy="274320"/>
          </a:xfrm>
          <a:prstGeom prst="rect">
            <a:avLst/>
          </a:prstGeom>
          <a:solidFill>
            <a:schemeClr val="accent2"/>
          </a:solidFill>
          <a:ln/>
        </p:spPr>
      </p:sp>
      <p:sp>
        <p:nvSpPr>
          <p:cNvPr id="32" name="IP cell"/>
          <p:cNvSpPr/>
          <p:nvPr/>
        </p:nvSpPr>
        <p:spPr>
          <a:xfrm>
            <a:off x="1481328" y="3227832"/>
            <a:ext cx="274320" cy="274320"/>
          </a:xfrm>
          <a:prstGeom prst="rect">
            <a:avLst/>
          </a:prstGeom>
          <a:solidFill>
            <a:schemeClr val="accent2"/>
          </a:solidFill>
          <a:ln/>
        </p:spPr>
      </p:sp>
      <p:sp>
        <p:nvSpPr>
          <p:cNvPr id="33" name="IP cell"/>
          <p:cNvSpPr/>
          <p:nvPr/>
        </p:nvSpPr>
        <p:spPr>
          <a:xfrm>
            <a:off x="1810512" y="3227832"/>
            <a:ext cx="274320" cy="274320"/>
          </a:xfrm>
          <a:prstGeom prst="rect">
            <a:avLst/>
          </a:prstGeom>
          <a:solidFill>
            <a:schemeClr val="accent2"/>
          </a:solidFill>
          <a:ln/>
        </p:spPr>
      </p:sp>
      <p:sp>
        <p:nvSpPr>
          <p:cNvPr id="34" name="IP cell"/>
          <p:cNvSpPr/>
          <p:nvPr/>
        </p:nvSpPr>
        <p:spPr>
          <a:xfrm>
            <a:off x="2139696" y="3227832"/>
            <a:ext cx="274320" cy="274320"/>
          </a:xfrm>
          <a:prstGeom prst="rect">
            <a:avLst/>
          </a:prstGeom>
          <a:solidFill>
            <a:schemeClr val="accent2"/>
          </a:solidFill>
          <a:ln/>
        </p:spPr>
      </p:sp>
      <p:sp>
        <p:nvSpPr>
          <p:cNvPr id="35" name="IP cell"/>
          <p:cNvSpPr/>
          <p:nvPr/>
        </p:nvSpPr>
        <p:spPr>
          <a:xfrm>
            <a:off x="2468880" y="3227832"/>
            <a:ext cx="274320" cy="274320"/>
          </a:xfrm>
          <a:prstGeom prst="rect">
            <a:avLst/>
          </a:prstGeom>
          <a:solidFill>
            <a:schemeClr val="accent2"/>
          </a:solidFill>
          <a:ln/>
        </p:spPr>
      </p:sp>
      <p:sp>
        <p:nvSpPr>
          <p:cNvPr id="36" name="IP cell"/>
          <p:cNvSpPr/>
          <p:nvPr/>
        </p:nvSpPr>
        <p:spPr>
          <a:xfrm>
            <a:off x="2798064" y="3227832"/>
            <a:ext cx="274320" cy="274320"/>
          </a:xfrm>
          <a:prstGeom prst="rect">
            <a:avLst/>
          </a:prstGeom>
          <a:solidFill>
            <a:schemeClr val="accent2"/>
          </a:solidFill>
          <a:ln/>
        </p:spPr>
      </p:sp>
      <p:sp>
        <p:nvSpPr>
          <p:cNvPr id="37" name="IP cell"/>
          <p:cNvSpPr/>
          <p:nvPr/>
        </p:nvSpPr>
        <p:spPr>
          <a:xfrm>
            <a:off x="3127248" y="3227832"/>
            <a:ext cx="274320" cy="274320"/>
          </a:xfrm>
          <a:prstGeom prst="rect">
            <a:avLst/>
          </a:prstGeom>
          <a:solidFill>
            <a:schemeClr val="accent2"/>
          </a:solidFill>
          <a:ln/>
        </p:spPr>
      </p:sp>
      <p:sp>
        <p:nvSpPr>
          <p:cNvPr id="38" name="IP cell"/>
          <p:cNvSpPr/>
          <p:nvPr/>
        </p:nvSpPr>
        <p:spPr>
          <a:xfrm>
            <a:off x="822960" y="3557016"/>
            <a:ext cx="274320" cy="274320"/>
          </a:xfrm>
          <a:prstGeom prst="rect">
            <a:avLst/>
          </a:prstGeom>
          <a:solidFill>
            <a:schemeClr val="accent2"/>
          </a:solidFill>
          <a:ln/>
        </p:spPr>
      </p:sp>
      <p:sp>
        <p:nvSpPr>
          <p:cNvPr id="39" name="IP cell"/>
          <p:cNvSpPr/>
          <p:nvPr/>
        </p:nvSpPr>
        <p:spPr>
          <a:xfrm>
            <a:off x="1152144" y="3557016"/>
            <a:ext cx="274320" cy="274320"/>
          </a:xfrm>
          <a:prstGeom prst="rect">
            <a:avLst/>
          </a:prstGeom>
          <a:solidFill>
            <a:schemeClr val="accent2"/>
          </a:solidFill>
          <a:ln/>
        </p:spPr>
      </p:sp>
      <p:sp>
        <p:nvSpPr>
          <p:cNvPr id="40" name="IP cell"/>
          <p:cNvSpPr/>
          <p:nvPr/>
        </p:nvSpPr>
        <p:spPr>
          <a:xfrm>
            <a:off x="1481328" y="3557016"/>
            <a:ext cx="274320" cy="274320"/>
          </a:xfrm>
          <a:prstGeom prst="rect">
            <a:avLst/>
          </a:prstGeom>
          <a:solidFill>
            <a:schemeClr val="accent2"/>
          </a:solidFill>
          <a:ln/>
        </p:spPr>
      </p:sp>
      <p:sp>
        <p:nvSpPr>
          <p:cNvPr id="41" name="IP cell"/>
          <p:cNvSpPr/>
          <p:nvPr/>
        </p:nvSpPr>
        <p:spPr>
          <a:xfrm>
            <a:off x="1810512" y="3557016"/>
            <a:ext cx="274320" cy="274320"/>
          </a:xfrm>
          <a:prstGeom prst="rect">
            <a:avLst/>
          </a:prstGeom>
          <a:solidFill>
            <a:schemeClr val="accent2"/>
          </a:solidFill>
          <a:ln/>
        </p:spPr>
      </p:sp>
      <p:sp>
        <p:nvSpPr>
          <p:cNvPr id="42" name="IP cell"/>
          <p:cNvSpPr/>
          <p:nvPr/>
        </p:nvSpPr>
        <p:spPr>
          <a:xfrm>
            <a:off x="2139696" y="3557016"/>
            <a:ext cx="274320" cy="274320"/>
          </a:xfrm>
          <a:prstGeom prst="rect">
            <a:avLst/>
          </a:prstGeom>
          <a:solidFill>
            <a:schemeClr val="accent2"/>
          </a:solidFill>
          <a:ln/>
        </p:spPr>
      </p:sp>
      <p:sp>
        <p:nvSpPr>
          <p:cNvPr id="43" name="IP cell"/>
          <p:cNvSpPr/>
          <p:nvPr/>
        </p:nvSpPr>
        <p:spPr>
          <a:xfrm>
            <a:off x="2468880" y="3557016"/>
            <a:ext cx="274320" cy="274320"/>
          </a:xfrm>
          <a:prstGeom prst="rect">
            <a:avLst/>
          </a:prstGeom>
          <a:solidFill>
            <a:schemeClr val="accent2"/>
          </a:solidFill>
          <a:ln/>
        </p:spPr>
      </p:sp>
      <p:sp>
        <p:nvSpPr>
          <p:cNvPr id="44" name="IP cell"/>
          <p:cNvSpPr/>
          <p:nvPr/>
        </p:nvSpPr>
        <p:spPr>
          <a:xfrm>
            <a:off x="2798064" y="3557016"/>
            <a:ext cx="274320" cy="274320"/>
          </a:xfrm>
          <a:prstGeom prst="rect">
            <a:avLst/>
          </a:prstGeom>
          <a:solidFill>
            <a:schemeClr val="accent2"/>
          </a:solidFill>
          <a:ln/>
        </p:spPr>
      </p:sp>
      <p:sp>
        <p:nvSpPr>
          <p:cNvPr id="45" name="IP cell"/>
          <p:cNvSpPr/>
          <p:nvPr/>
        </p:nvSpPr>
        <p:spPr>
          <a:xfrm>
            <a:off x="3127248" y="3557016"/>
            <a:ext cx="274320" cy="274320"/>
          </a:xfrm>
          <a:prstGeom prst="rect">
            <a:avLst/>
          </a:prstGeom>
          <a:solidFill>
            <a:schemeClr val="accent2"/>
          </a:solidFill>
          <a:ln/>
        </p:spPr>
      </p:sp>
      <p:sp>
        <p:nvSpPr>
          <p:cNvPr id="46" name="IP cell"/>
          <p:cNvSpPr/>
          <p:nvPr/>
        </p:nvSpPr>
        <p:spPr>
          <a:xfrm>
            <a:off x="4023360" y="2240280"/>
            <a:ext cx="274320" cy="274320"/>
          </a:xfrm>
          <a:prstGeom prst="rect">
            <a:avLst/>
          </a:prstGeom>
          <a:solidFill>
            <a:schemeClr val="accent1"/>
          </a:solidFill>
          <a:ln/>
        </p:spPr>
      </p:sp>
      <p:sp>
        <p:nvSpPr>
          <p:cNvPr id="47" name="IP cell"/>
          <p:cNvSpPr/>
          <p:nvPr/>
        </p:nvSpPr>
        <p:spPr>
          <a:xfrm>
            <a:off x="4352544" y="2240280"/>
            <a:ext cx="274320" cy="274320"/>
          </a:xfrm>
          <a:prstGeom prst="rect">
            <a:avLst/>
          </a:prstGeom>
          <a:solidFill>
            <a:schemeClr val="accent1"/>
          </a:solidFill>
          <a:ln/>
        </p:spPr>
      </p:sp>
      <p:sp>
        <p:nvSpPr>
          <p:cNvPr id="48" name="IP cell"/>
          <p:cNvSpPr/>
          <p:nvPr/>
        </p:nvSpPr>
        <p:spPr>
          <a:xfrm>
            <a:off x="4681728" y="2240280"/>
            <a:ext cx="274320" cy="274320"/>
          </a:xfrm>
          <a:prstGeom prst="rect">
            <a:avLst/>
          </a:prstGeom>
          <a:solidFill>
            <a:schemeClr val="accent1"/>
          </a:solidFill>
          <a:ln/>
        </p:spPr>
      </p:sp>
      <p:sp>
        <p:nvSpPr>
          <p:cNvPr id="49" name="IP cell"/>
          <p:cNvSpPr/>
          <p:nvPr/>
        </p:nvSpPr>
        <p:spPr>
          <a:xfrm>
            <a:off x="5010912" y="2240280"/>
            <a:ext cx="274320" cy="274320"/>
          </a:xfrm>
          <a:prstGeom prst="rect">
            <a:avLst/>
          </a:prstGeom>
          <a:solidFill>
            <a:schemeClr val="accent1"/>
          </a:solidFill>
          <a:ln/>
        </p:spPr>
      </p:sp>
      <p:sp>
        <p:nvSpPr>
          <p:cNvPr id="50" name="IP cell"/>
          <p:cNvSpPr/>
          <p:nvPr/>
        </p:nvSpPr>
        <p:spPr>
          <a:xfrm>
            <a:off x="5340096" y="2240280"/>
            <a:ext cx="274320" cy="274320"/>
          </a:xfrm>
          <a:prstGeom prst="rect">
            <a:avLst/>
          </a:prstGeom>
          <a:solidFill>
            <a:schemeClr val="bg1"/>
          </a:solidFill>
          <a:ln/>
        </p:spPr>
      </p:sp>
      <p:sp>
        <p:nvSpPr>
          <p:cNvPr id="51" name="IP cell"/>
          <p:cNvSpPr/>
          <p:nvPr/>
        </p:nvSpPr>
        <p:spPr>
          <a:xfrm>
            <a:off x="5669280" y="2240280"/>
            <a:ext cx="274320" cy="274320"/>
          </a:xfrm>
          <a:prstGeom prst="rect">
            <a:avLst/>
          </a:prstGeom>
          <a:solidFill>
            <a:schemeClr val="bg1"/>
          </a:solidFill>
          <a:ln/>
        </p:spPr>
      </p:sp>
      <p:sp>
        <p:nvSpPr>
          <p:cNvPr id="52" name="IP cell"/>
          <p:cNvSpPr/>
          <p:nvPr/>
        </p:nvSpPr>
        <p:spPr>
          <a:xfrm>
            <a:off x="5998464" y="2240280"/>
            <a:ext cx="274320" cy="274320"/>
          </a:xfrm>
          <a:prstGeom prst="rect">
            <a:avLst/>
          </a:prstGeom>
          <a:solidFill>
            <a:schemeClr val="bg1"/>
          </a:solidFill>
          <a:ln/>
        </p:spPr>
      </p:sp>
      <p:sp>
        <p:nvSpPr>
          <p:cNvPr id="53" name="IP cell"/>
          <p:cNvSpPr/>
          <p:nvPr/>
        </p:nvSpPr>
        <p:spPr>
          <a:xfrm>
            <a:off x="6327648" y="2240280"/>
            <a:ext cx="274320" cy="274320"/>
          </a:xfrm>
          <a:prstGeom prst="rect">
            <a:avLst/>
          </a:prstGeom>
          <a:solidFill>
            <a:schemeClr val="bg1"/>
          </a:solidFill>
          <a:ln/>
        </p:spPr>
      </p:sp>
      <p:sp>
        <p:nvSpPr>
          <p:cNvPr id="54" name="IP cell"/>
          <p:cNvSpPr/>
          <p:nvPr/>
        </p:nvSpPr>
        <p:spPr>
          <a:xfrm>
            <a:off x="4023360" y="2569464"/>
            <a:ext cx="274320" cy="274320"/>
          </a:xfrm>
          <a:prstGeom prst="rect">
            <a:avLst/>
          </a:prstGeom>
          <a:solidFill>
            <a:schemeClr val="bg1"/>
          </a:solidFill>
          <a:ln/>
        </p:spPr>
      </p:sp>
      <p:sp>
        <p:nvSpPr>
          <p:cNvPr id="55" name="IP cell"/>
          <p:cNvSpPr/>
          <p:nvPr/>
        </p:nvSpPr>
        <p:spPr>
          <a:xfrm>
            <a:off x="4352544" y="2569464"/>
            <a:ext cx="274320" cy="274320"/>
          </a:xfrm>
          <a:prstGeom prst="rect">
            <a:avLst/>
          </a:prstGeom>
          <a:solidFill>
            <a:schemeClr val="bg1"/>
          </a:solidFill>
          <a:ln/>
        </p:spPr>
      </p:sp>
      <p:sp>
        <p:nvSpPr>
          <p:cNvPr id="56" name="IP cell"/>
          <p:cNvSpPr/>
          <p:nvPr/>
        </p:nvSpPr>
        <p:spPr>
          <a:xfrm>
            <a:off x="4681728" y="2569464"/>
            <a:ext cx="274320" cy="274320"/>
          </a:xfrm>
          <a:prstGeom prst="rect">
            <a:avLst/>
          </a:prstGeom>
          <a:solidFill>
            <a:schemeClr val="bg1"/>
          </a:solidFill>
          <a:ln/>
        </p:spPr>
      </p:sp>
      <p:sp>
        <p:nvSpPr>
          <p:cNvPr id="57" name="IP cell"/>
          <p:cNvSpPr/>
          <p:nvPr/>
        </p:nvSpPr>
        <p:spPr>
          <a:xfrm>
            <a:off x="5010912" y="2569464"/>
            <a:ext cx="274320" cy="274320"/>
          </a:xfrm>
          <a:prstGeom prst="rect">
            <a:avLst/>
          </a:prstGeom>
          <a:solidFill>
            <a:schemeClr val="bg1"/>
          </a:solidFill>
          <a:ln/>
        </p:spPr>
      </p:sp>
      <p:sp>
        <p:nvSpPr>
          <p:cNvPr id="58" name="IP cell"/>
          <p:cNvSpPr/>
          <p:nvPr/>
        </p:nvSpPr>
        <p:spPr>
          <a:xfrm>
            <a:off x="5340096" y="2569464"/>
            <a:ext cx="274320" cy="274320"/>
          </a:xfrm>
          <a:prstGeom prst="rect">
            <a:avLst/>
          </a:prstGeom>
          <a:solidFill>
            <a:schemeClr val="bg1"/>
          </a:solidFill>
          <a:ln/>
        </p:spPr>
      </p:sp>
      <p:sp>
        <p:nvSpPr>
          <p:cNvPr id="59" name="IP cell"/>
          <p:cNvSpPr/>
          <p:nvPr/>
        </p:nvSpPr>
        <p:spPr>
          <a:xfrm>
            <a:off x="5669280" y="2569464"/>
            <a:ext cx="274320" cy="274320"/>
          </a:xfrm>
          <a:prstGeom prst="rect">
            <a:avLst/>
          </a:prstGeom>
          <a:solidFill>
            <a:schemeClr val="bg1"/>
          </a:solidFill>
          <a:ln/>
        </p:spPr>
      </p:sp>
      <p:sp>
        <p:nvSpPr>
          <p:cNvPr id="60" name="IP cell"/>
          <p:cNvSpPr/>
          <p:nvPr/>
        </p:nvSpPr>
        <p:spPr>
          <a:xfrm>
            <a:off x="5998464" y="2569464"/>
            <a:ext cx="274320" cy="274320"/>
          </a:xfrm>
          <a:prstGeom prst="rect">
            <a:avLst/>
          </a:prstGeom>
          <a:solidFill>
            <a:schemeClr val="bg1"/>
          </a:solidFill>
          <a:ln/>
        </p:spPr>
      </p:sp>
      <p:sp>
        <p:nvSpPr>
          <p:cNvPr id="61" name="IP cell"/>
          <p:cNvSpPr/>
          <p:nvPr/>
        </p:nvSpPr>
        <p:spPr>
          <a:xfrm>
            <a:off x="6327648" y="2569464"/>
            <a:ext cx="274320" cy="274320"/>
          </a:xfrm>
          <a:prstGeom prst="rect">
            <a:avLst/>
          </a:prstGeom>
          <a:solidFill>
            <a:schemeClr val="bg1"/>
          </a:solidFill>
          <a:ln/>
        </p:spPr>
      </p:sp>
      <p:sp>
        <p:nvSpPr>
          <p:cNvPr id="62" name="IP cell"/>
          <p:cNvSpPr/>
          <p:nvPr/>
        </p:nvSpPr>
        <p:spPr>
          <a:xfrm>
            <a:off x="4023360" y="2898648"/>
            <a:ext cx="274320" cy="274320"/>
          </a:xfrm>
          <a:prstGeom prst="rect">
            <a:avLst/>
          </a:prstGeom>
          <a:solidFill>
            <a:schemeClr val="bg1"/>
          </a:solidFill>
          <a:ln/>
        </p:spPr>
      </p:sp>
      <p:sp>
        <p:nvSpPr>
          <p:cNvPr id="63" name="IP cell"/>
          <p:cNvSpPr/>
          <p:nvPr/>
        </p:nvSpPr>
        <p:spPr>
          <a:xfrm>
            <a:off x="4352544" y="2898648"/>
            <a:ext cx="274320" cy="274320"/>
          </a:xfrm>
          <a:prstGeom prst="rect">
            <a:avLst/>
          </a:prstGeom>
          <a:solidFill>
            <a:schemeClr val="bg1"/>
          </a:solidFill>
          <a:ln/>
        </p:spPr>
      </p:sp>
      <p:sp>
        <p:nvSpPr>
          <p:cNvPr id="64" name="IP cell"/>
          <p:cNvSpPr/>
          <p:nvPr/>
        </p:nvSpPr>
        <p:spPr>
          <a:xfrm>
            <a:off x="4681728" y="2898648"/>
            <a:ext cx="274320" cy="274320"/>
          </a:xfrm>
          <a:prstGeom prst="rect">
            <a:avLst/>
          </a:prstGeom>
          <a:solidFill>
            <a:schemeClr val="bg1"/>
          </a:solidFill>
          <a:ln/>
        </p:spPr>
      </p:sp>
      <p:sp>
        <p:nvSpPr>
          <p:cNvPr id="65" name="IP cell"/>
          <p:cNvSpPr/>
          <p:nvPr/>
        </p:nvSpPr>
        <p:spPr>
          <a:xfrm>
            <a:off x="5010912" y="2898648"/>
            <a:ext cx="274320" cy="274320"/>
          </a:xfrm>
          <a:prstGeom prst="rect">
            <a:avLst/>
          </a:prstGeom>
          <a:solidFill>
            <a:schemeClr val="bg1"/>
          </a:solidFill>
          <a:ln/>
        </p:spPr>
      </p:sp>
      <p:sp>
        <p:nvSpPr>
          <p:cNvPr id="66" name="IP cell"/>
          <p:cNvSpPr/>
          <p:nvPr/>
        </p:nvSpPr>
        <p:spPr>
          <a:xfrm>
            <a:off x="5340096" y="2898648"/>
            <a:ext cx="274320" cy="274320"/>
          </a:xfrm>
          <a:prstGeom prst="rect">
            <a:avLst/>
          </a:prstGeom>
          <a:solidFill>
            <a:schemeClr val="bg1"/>
          </a:solidFill>
          <a:ln/>
        </p:spPr>
      </p:sp>
      <p:sp>
        <p:nvSpPr>
          <p:cNvPr id="67" name="IP cell"/>
          <p:cNvSpPr/>
          <p:nvPr/>
        </p:nvSpPr>
        <p:spPr>
          <a:xfrm>
            <a:off x="5669280" y="2898648"/>
            <a:ext cx="274320" cy="274320"/>
          </a:xfrm>
          <a:prstGeom prst="rect">
            <a:avLst/>
          </a:prstGeom>
          <a:solidFill>
            <a:schemeClr val="bg1"/>
          </a:solidFill>
          <a:ln/>
        </p:spPr>
      </p:sp>
      <p:sp>
        <p:nvSpPr>
          <p:cNvPr id="68" name="IP cell"/>
          <p:cNvSpPr/>
          <p:nvPr/>
        </p:nvSpPr>
        <p:spPr>
          <a:xfrm>
            <a:off x="5998464" y="2898648"/>
            <a:ext cx="274320" cy="274320"/>
          </a:xfrm>
          <a:prstGeom prst="rect">
            <a:avLst/>
          </a:prstGeom>
          <a:solidFill>
            <a:schemeClr val="bg1"/>
          </a:solidFill>
          <a:ln/>
        </p:spPr>
      </p:sp>
      <p:sp>
        <p:nvSpPr>
          <p:cNvPr id="69" name="IP cell"/>
          <p:cNvSpPr/>
          <p:nvPr/>
        </p:nvSpPr>
        <p:spPr>
          <a:xfrm>
            <a:off x="6327648" y="2898648"/>
            <a:ext cx="274320" cy="274320"/>
          </a:xfrm>
          <a:prstGeom prst="rect">
            <a:avLst/>
          </a:prstGeom>
          <a:solidFill>
            <a:schemeClr val="bg1"/>
          </a:solidFill>
          <a:ln/>
        </p:spPr>
      </p:sp>
      <p:sp>
        <p:nvSpPr>
          <p:cNvPr id="70" name="IP cell"/>
          <p:cNvSpPr/>
          <p:nvPr/>
        </p:nvSpPr>
        <p:spPr>
          <a:xfrm>
            <a:off x="4023360" y="3227832"/>
            <a:ext cx="274320" cy="274320"/>
          </a:xfrm>
          <a:prstGeom prst="rect">
            <a:avLst/>
          </a:prstGeom>
          <a:solidFill>
            <a:schemeClr val="bg1"/>
          </a:solidFill>
          <a:ln/>
        </p:spPr>
      </p:sp>
      <p:sp>
        <p:nvSpPr>
          <p:cNvPr id="71" name="IP cell"/>
          <p:cNvSpPr/>
          <p:nvPr/>
        </p:nvSpPr>
        <p:spPr>
          <a:xfrm>
            <a:off x="4352544" y="3227832"/>
            <a:ext cx="274320" cy="274320"/>
          </a:xfrm>
          <a:prstGeom prst="rect">
            <a:avLst/>
          </a:prstGeom>
          <a:solidFill>
            <a:schemeClr val="bg1"/>
          </a:solidFill>
          <a:ln/>
        </p:spPr>
      </p:sp>
      <p:sp>
        <p:nvSpPr>
          <p:cNvPr id="72" name="IP cell"/>
          <p:cNvSpPr/>
          <p:nvPr/>
        </p:nvSpPr>
        <p:spPr>
          <a:xfrm>
            <a:off x="4681728" y="3227832"/>
            <a:ext cx="274320" cy="274320"/>
          </a:xfrm>
          <a:prstGeom prst="rect">
            <a:avLst/>
          </a:prstGeom>
          <a:solidFill>
            <a:schemeClr val="bg1"/>
          </a:solidFill>
          <a:ln/>
        </p:spPr>
      </p:sp>
      <p:sp>
        <p:nvSpPr>
          <p:cNvPr id="73" name="IP cell"/>
          <p:cNvSpPr/>
          <p:nvPr/>
        </p:nvSpPr>
        <p:spPr>
          <a:xfrm>
            <a:off x="5010912" y="3227832"/>
            <a:ext cx="274320" cy="274320"/>
          </a:xfrm>
          <a:prstGeom prst="rect">
            <a:avLst/>
          </a:prstGeom>
          <a:solidFill>
            <a:schemeClr val="bg1"/>
          </a:solidFill>
          <a:ln/>
        </p:spPr>
      </p:sp>
      <p:sp>
        <p:nvSpPr>
          <p:cNvPr id="74" name="IP cell"/>
          <p:cNvSpPr/>
          <p:nvPr/>
        </p:nvSpPr>
        <p:spPr>
          <a:xfrm>
            <a:off x="5340096" y="3227832"/>
            <a:ext cx="274320" cy="274320"/>
          </a:xfrm>
          <a:prstGeom prst="rect">
            <a:avLst/>
          </a:prstGeom>
          <a:solidFill>
            <a:schemeClr val="bg1"/>
          </a:solidFill>
          <a:ln/>
        </p:spPr>
      </p:sp>
      <p:sp>
        <p:nvSpPr>
          <p:cNvPr id="75" name="IP cell"/>
          <p:cNvSpPr/>
          <p:nvPr/>
        </p:nvSpPr>
        <p:spPr>
          <a:xfrm>
            <a:off x="5669280" y="3227832"/>
            <a:ext cx="274320" cy="274320"/>
          </a:xfrm>
          <a:prstGeom prst="rect">
            <a:avLst/>
          </a:prstGeom>
          <a:solidFill>
            <a:schemeClr val="bg1"/>
          </a:solidFill>
          <a:ln/>
        </p:spPr>
      </p:sp>
      <p:sp>
        <p:nvSpPr>
          <p:cNvPr id="76" name="IP cell"/>
          <p:cNvSpPr/>
          <p:nvPr/>
        </p:nvSpPr>
        <p:spPr>
          <a:xfrm>
            <a:off x="5998464" y="3227832"/>
            <a:ext cx="274320" cy="274320"/>
          </a:xfrm>
          <a:prstGeom prst="rect">
            <a:avLst/>
          </a:prstGeom>
          <a:solidFill>
            <a:schemeClr val="bg1"/>
          </a:solidFill>
          <a:ln/>
        </p:spPr>
      </p:sp>
      <p:sp>
        <p:nvSpPr>
          <p:cNvPr id="77" name="IP cell"/>
          <p:cNvSpPr/>
          <p:nvPr/>
        </p:nvSpPr>
        <p:spPr>
          <a:xfrm>
            <a:off x="6327648" y="3227832"/>
            <a:ext cx="274320" cy="274320"/>
          </a:xfrm>
          <a:prstGeom prst="rect">
            <a:avLst/>
          </a:prstGeom>
          <a:solidFill>
            <a:schemeClr val="bg1"/>
          </a:solidFill>
          <a:ln/>
        </p:spPr>
      </p:sp>
      <p:sp>
        <p:nvSpPr>
          <p:cNvPr id="78" name="IP cell"/>
          <p:cNvSpPr/>
          <p:nvPr/>
        </p:nvSpPr>
        <p:spPr>
          <a:xfrm>
            <a:off x="4023360" y="3557016"/>
            <a:ext cx="274320" cy="274320"/>
          </a:xfrm>
          <a:prstGeom prst="rect">
            <a:avLst/>
          </a:prstGeom>
          <a:solidFill>
            <a:schemeClr val="bg1"/>
          </a:solidFill>
          <a:ln/>
        </p:spPr>
      </p:sp>
      <p:sp>
        <p:nvSpPr>
          <p:cNvPr id="79" name="IP cell"/>
          <p:cNvSpPr/>
          <p:nvPr/>
        </p:nvSpPr>
        <p:spPr>
          <a:xfrm>
            <a:off x="4352544" y="3557016"/>
            <a:ext cx="274320" cy="274320"/>
          </a:xfrm>
          <a:prstGeom prst="rect">
            <a:avLst/>
          </a:prstGeom>
          <a:solidFill>
            <a:schemeClr val="bg1"/>
          </a:solidFill>
          <a:ln/>
        </p:spPr>
      </p:sp>
      <p:sp>
        <p:nvSpPr>
          <p:cNvPr id="80" name="IP cell"/>
          <p:cNvSpPr/>
          <p:nvPr/>
        </p:nvSpPr>
        <p:spPr>
          <a:xfrm>
            <a:off x="4681728" y="3557016"/>
            <a:ext cx="274320" cy="274320"/>
          </a:xfrm>
          <a:prstGeom prst="rect">
            <a:avLst/>
          </a:prstGeom>
          <a:solidFill>
            <a:schemeClr val="bg1"/>
          </a:solidFill>
          <a:ln/>
        </p:spPr>
      </p:sp>
      <p:sp>
        <p:nvSpPr>
          <p:cNvPr id="81" name="IP cell"/>
          <p:cNvSpPr/>
          <p:nvPr/>
        </p:nvSpPr>
        <p:spPr>
          <a:xfrm>
            <a:off x="5010912" y="3557016"/>
            <a:ext cx="274320" cy="274320"/>
          </a:xfrm>
          <a:prstGeom prst="rect">
            <a:avLst/>
          </a:prstGeom>
          <a:solidFill>
            <a:schemeClr val="bg1"/>
          </a:solidFill>
          <a:ln/>
        </p:spPr>
      </p:sp>
      <p:sp>
        <p:nvSpPr>
          <p:cNvPr id="82" name="IP cell"/>
          <p:cNvSpPr/>
          <p:nvPr/>
        </p:nvSpPr>
        <p:spPr>
          <a:xfrm>
            <a:off x="5340096" y="3557016"/>
            <a:ext cx="274320" cy="274320"/>
          </a:xfrm>
          <a:prstGeom prst="rect">
            <a:avLst/>
          </a:prstGeom>
          <a:solidFill>
            <a:schemeClr val="bg1"/>
          </a:solidFill>
          <a:ln/>
        </p:spPr>
      </p:sp>
      <p:sp>
        <p:nvSpPr>
          <p:cNvPr id="83" name="IP cell"/>
          <p:cNvSpPr/>
          <p:nvPr/>
        </p:nvSpPr>
        <p:spPr>
          <a:xfrm>
            <a:off x="5669280" y="3557016"/>
            <a:ext cx="274320" cy="274320"/>
          </a:xfrm>
          <a:prstGeom prst="rect">
            <a:avLst/>
          </a:prstGeom>
          <a:solidFill>
            <a:schemeClr val="bg1"/>
          </a:solidFill>
          <a:ln/>
        </p:spPr>
      </p:sp>
      <p:sp>
        <p:nvSpPr>
          <p:cNvPr id="84" name="IP cell"/>
          <p:cNvSpPr/>
          <p:nvPr/>
        </p:nvSpPr>
        <p:spPr>
          <a:xfrm>
            <a:off x="5998464" y="3557016"/>
            <a:ext cx="274320" cy="274320"/>
          </a:xfrm>
          <a:prstGeom prst="rect">
            <a:avLst/>
          </a:prstGeom>
          <a:solidFill>
            <a:schemeClr val="bg1"/>
          </a:solidFill>
          <a:ln/>
        </p:spPr>
      </p:sp>
      <p:sp>
        <p:nvSpPr>
          <p:cNvPr id="85" name="IP cell"/>
          <p:cNvSpPr/>
          <p:nvPr/>
        </p:nvSpPr>
        <p:spPr>
          <a:xfrm>
            <a:off x="6327648" y="3557016"/>
            <a:ext cx="274320" cy="274320"/>
          </a:xfrm>
          <a:prstGeom prst="rect">
            <a:avLst/>
          </a:prstGeom>
          <a:solidFill>
            <a:schemeClr val="bg1"/>
          </a:solidFill>
          <a:ln/>
        </p:spPr>
      </p:sp>
      <p:sp>
        <p:nvSpPr>
          <p:cNvPr id="86" name="Text 84"/>
          <p:cNvSpPr txBox="1"/>
          <p:nvPr/>
        </p:nvSpPr>
        <p:spPr>
          <a:xfrm>
            <a:off x="822960" y="4023360"/>
            <a:ext cx="2926080" cy="731520"/>
          </a:xfrm>
          <a:prstGeom prst="rect">
            <a:avLst/>
          </a:prstGeom>
          <a:noFill/>
          <a:ln/>
        </p:spPr>
        <p:txBody>
          <a:bodyPr wrap="square" lIns="0" tIns="0" rIns="0" bIns="0" rtlCol="0" anchor="t"/>
          <a:lstStyle/>
          <a:p>
            <a:pPr indent="0" marL="0">
              <a:buNone/>
            </a:pPr>
            <a:r>
              <a:rPr lang="en-US" sz="1400" dirty="0">
                <a:solidFill>
                  <a:schemeClr val="tx1"/>
                </a:solidFill>
              </a:rPr>
              <a:t>Nodes and every pod draw from VPC subnets</a:t>
            </a:r>
            <a:endParaRPr lang="en-US" sz="1400" dirty="0"/>
          </a:p>
        </p:txBody>
      </p:sp>
      <p:sp>
        <p:nvSpPr>
          <p:cNvPr id="87" name="Text 85"/>
          <p:cNvSpPr txBox="1"/>
          <p:nvPr/>
        </p:nvSpPr>
        <p:spPr>
          <a:xfrm>
            <a:off x="4023360" y="4023360"/>
            <a:ext cx="2926080" cy="731520"/>
          </a:xfrm>
          <a:prstGeom prst="rect">
            <a:avLst/>
          </a:prstGeom>
          <a:noFill/>
          <a:ln/>
        </p:spPr>
        <p:txBody>
          <a:bodyPr wrap="square" lIns="0" tIns="0" rIns="0" bIns="0" rtlCol="0" anchor="t"/>
          <a:lstStyle/>
          <a:p>
            <a:pPr indent="0" marL="0">
              <a:buNone/>
            </a:pPr>
            <a:r>
              <a:rPr lang="en-US" sz="1400" dirty="0">
                <a:solidFill>
                  <a:schemeClr val="tx1"/>
                </a:solidFill>
              </a:rPr>
              <a:t>Only nodes draw from VPC subnets; pods use a separate CIDR</a:t>
            </a:r>
            <a:endParaRPr lang="en-US" sz="1400" dirty="0"/>
          </a:p>
        </p:txBody>
      </p:sp>
      <p:sp>
        <p:nvSpPr>
          <p:cNvPr id="88" name="Legend node"/>
          <p:cNvSpPr/>
          <p:nvPr/>
        </p:nvSpPr>
        <p:spPr>
          <a:xfrm>
            <a:off x="822960" y="4983480"/>
            <a:ext cx="228600" cy="228600"/>
          </a:xfrm>
          <a:prstGeom prst="rect">
            <a:avLst/>
          </a:prstGeom>
          <a:solidFill>
            <a:schemeClr val="accent1"/>
          </a:solidFill>
          <a:ln/>
        </p:spPr>
      </p:sp>
      <p:sp>
        <p:nvSpPr>
          <p:cNvPr id="89" name="Text 87"/>
          <p:cNvSpPr txBox="1"/>
          <p:nvPr/>
        </p:nvSpPr>
        <p:spPr>
          <a:xfrm>
            <a:off x="1188720" y="4956048"/>
            <a:ext cx="1097280" cy="274320"/>
          </a:xfrm>
          <a:prstGeom prst="rect">
            <a:avLst/>
          </a:prstGeom>
          <a:noFill/>
          <a:ln/>
        </p:spPr>
        <p:txBody>
          <a:bodyPr wrap="square" lIns="0" tIns="0" rIns="0" bIns="0" rtlCol="0" anchor="ctr"/>
          <a:lstStyle/>
          <a:p>
            <a:pPr indent="0" marL="0">
              <a:buNone/>
            </a:pPr>
            <a:r>
              <a:rPr lang="en-US" sz="1400" dirty="0">
                <a:solidFill>
                  <a:schemeClr val="tx1"/>
                </a:solidFill>
              </a:rPr>
              <a:t>Node IP</a:t>
            </a:r>
            <a:endParaRPr lang="en-US" sz="1400" dirty="0"/>
          </a:p>
        </p:txBody>
      </p:sp>
      <p:sp>
        <p:nvSpPr>
          <p:cNvPr id="90" name="Legend pod"/>
          <p:cNvSpPr/>
          <p:nvPr/>
        </p:nvSpPr>
        <p:spPr>
          <a:xfrm>
            <a:off x="2377440" y="4983480"/>
            <a:ext cx="228600" cy="228600"/>
          </a:xfrm>
          <a:prstGeom prst="rect">
            <a:avLst/>
          </a:prstGeom>
          <a:solidFill>
            <a:schemeClr val="accent2"/>
          </a:solidFill>
          <a:ln/>
        </p:spPr>
      </p:sp>
      <p:sp>
        <p:nvSpPr>
          <p:cNvPr id="91" name="Text 89"/>
          <p:cNvSpPr txBox="1"/>
          <p:nvPr/>
        </p:nvSpPr>
        <p:spPr>
          <a:xfrm>
            <a:off x="2743200" y="4956048"/>
            <a:ext cx="1097280" cy="274320"/>
          </a:xfrm>
          <a:prstGeom prst="rect">
            <a:avLst/>
          </a:prstGeom>
          <a:noFill/>
          <a:ln/>
        </p:spPr>
        <p:txBody>
          <a:bodyPr wrap="square" lIns="0" tIns="0" rIns="0" bIns="0" rtlCol="0" anchor="ctr"/>
          <a:lstStyle/>
          <a:p>
            <a:pPr indent="0" marL="0">
              <a:buNone/>
            </a:pPr>
            <a:r>
              <a:rPr lang="en-US" sz="1400" dirty="0">
                <a:solidFill>
                  <a:schemeClr val="tx1"/>
                </a:solidFill>
              </a:rPr>
              <a:t>Pod IP</a:t>
            </a:r>
            <a:endParaRPr lang="en-US" sz="1400" dirty="0"/>
          </a:p>
        </p:txBody>
      </p:sp>
      <p:sp>
        <p:nvSpPr>
          <p:cNvPr id="92" name="Text 90"/>
          <p:cNvSpPr txBox="1"/>
          <p:nvPr/>
        </p:nvSpPr>
        <p:spPr>
          <a:xfrm>
            <a:off x="822960" y="5394960"/>
            <a:ext cx="5943600" cy="274320"/>
          </a:xfrm>
          <a:prstGeom prst="rect">
            <a:avLst/>
          </a:prstGeom>
          <a:noFill/>
          <a:ln/>
        </p:spPr>
        <p:txBody>
          <a:bodyPr wrap="square" lIns="0" tIns="0" rIns="0" bIns="0" rtlCol="0" anchor="t"/>
          <a:lstStyle/>
          <a:p>
            <a:pPr indent="0" marL="0">
              <a:buNone/>
            </a:pPr>
            <a:r>
              <a:rPr lang="en-US" sz="1200" dirty="0">
                <a:solidFill>
                  <a:schemeClr val="accent6"/>
                </a:solidFill>
              </a:rPr>
              <a:t>Illustrative only, not measured</a:t>
            </a:r>
            <a:endParaRPr lang="en-US" sz="1200" dirty="0"/>
          </a:p>
        </p:txBody>
      </p:sp>
      <p:sp>
        <p:nvSpPr>
          <p:cNvPr id="93" name="Text 91"/>
          <p:cNvSpPr txBox="1"/>
          <p:nvPr/>
        </p:nvSpPr>
        <p:spPr>
          <a:xfrm>
            <a:off x="7589520" y="1554480"/>
            <a:ext cx="4023360" cy="411480"/>
          </a:xfrm>
          <a:prstGeom prst="rect">
            <a:avLst/>
          </a:prstGeom>
          <a:noFill/>
          <a:ln/>
        </p:spPr>
        <p:txBody>
          <a:bodyPr wrap="square" lIns="0" tIns="0" rIns="0" bIns="0" rtlCol="0" anchor="t"/>
          <a:lstStyle/>
          <a:p>
            <a:pPr indent="0" marL="0">
              <a:buNone/>
            </a:pPr>
            <a:r>
              <a:rPr lang="en-US" sz="2000" b="1" dirty="0">
                <a:solidFill>
                  <a:schemeClr val="accent1"/>
                </a:solidFill>
              </a:rPr>
              <a:t>Why it matters</a:t>
            </a:r>
            <a:endParaRPr lang="en-US" sz="2000" dirty="0"/>
          </a:p>
        </p:txBody>
      </p:sp>
      <p:sp>
        <p:nvSpPr>
          <p:cNvPr id="94" name="Text 92"/>
          <p:cNvSpPr txBox="1"/>
          <p:nvPr/>
        </p:nvSpPr>
        <p:spPr>
          <a:xfrm>
            <a:off x="7589520" y="2103120"/>
            <a:ext cx="4023360" cy="3749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VPC CNI gives every pod a VPC IP, plus warm IPs held per node</a:t>
            </a:r>
            <a:endParaRPr lang="en-US" sz="1600" dirty="0"/>
          </a:p>
          <a:p>
            <a:pPr marL="342900" indent="-342900">
              <a:spcAft>
                <a:spcPts val="800"/>
              </a:spcAft>
              <a:buSzPct val="100000"/>
              <a:buChar char="•"/>
            </a:pPr>
            <a:r>
              <a:rPr lang="en-US" sz="1600" dirty="0">
                <a:solidFill>
                  <a:schemeClr val="tx1"/>
                </a:solidFill>
              </a:rPr>
              <a:t>We are consuming a lot of IPs across the clusters</a:t>
            </a:r>
            <a:endParaRPr lang="en-US" sz="1600" dirty="0"/>
          </a:p>
          <a:p>
            <a:pPr marL="342900" indent="-342900">
              <a:spcAft>
                <a:spcPts val="800"/>
              </a:spcAft>
              <a:buSzPct val="100000"/>
              <a:buChar char="•"/>
            </a:pPr>
            <a:r>
              <a:rPr lang="en-US" sz="1600" dirty="0">
                <a:solidFill>
                  <a:schemeClr val="tx1"/>
                </a:solidFill>
              </a:rPr>
              <a:t>Cilium cluster-pool IPAM hands out pod IPs from a CIDR that is not routed in the VPC</a:t>
            </a:r>
            <a:endParaRPr lang="en-US" sz="1600" dirty="0"/>
          </a:p>
          <a:p>
            <a:pPr marL="342900" indent="-342900">
              <a:spcAft>
                <a:spcPts val="800"/>
              </a:spcAft>
              <a:buSzPct val="100000"/>
              <a:buChar char="•"/>
            </a:pPr>
            <a:r>
              <a:rPr lang="en-US" sz="1600" dirty="0">
                <a:solidFill>
                  <a:schemeClr val="tx1"/>
                </a:solidFill>
              </a:rPr>
              <a:t>Subnet sizing then follows node count, not pod count</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Many small clusters need a mesh</a:t>
            </a:r>
            <a:endParaRPr lang="en-US" sz="3600" dirty="0"/>
          </a:p>
        </p:txBody>
      </p:sp>
      <p:sp>
        <p:nvSpPr>
          <p:cNvPr id="3" name="Mesh bar"/>
          <p:cNvSpPr/>
          <p:nvPr/>
        </p:nvSpPr>
        <p:spPr>
          <a:xfrm>
            <a:off x="548640" y="1554480"/>
            <a:ext cx="5852160" cy="822960"/>
          </a:xfrm>
          <a:prstGeom prst="roundRect">
            <a:avLst>
              <a:gd name="adj" fmla="val 13333"/>
            </a:avLst>
          </a:prstGeom>
          <a:solidFill>
            <a:schemeClr val="accent1"/>
          </a:solidFill>
          <a:ln/>
        </p:spPr>
      </p:sp>
      <p:sp>
        <p:nvSpPr>
          <p:cNvPr id="4" name="Text 2"/>
          <p:cNvSpPr txBox="1"/>
          <p:nvPr/>
        </p:nvSpPr>
        <p:spPr>
          <a:xfrm>
            <a:off x="548640" y="1554480"/>
            <a:ext cx="5852160" cy="822960"/>
          </a:xfrm>
          <a:prstGeom prst="rect">
            <a:avLst/>
          </a:prstGeom>
          <a:noFill/>
          <a:ln/>
        </p:spPr>
        <p:txBody>
          <a:bodyPr wrap="square" lIns="0" tIns="0" rIns="0" bIns="0" rtlCol="0" anchor="ctr"/>
          <a:lstStyle/>
          <a:p>
            <a:pPr algn="ctr" indent="0" marL="0">
              <a:buNone/>
            </a:pPr>
            <a:r>
              <a:rPr lang="en-US" sz="2000" b="1" dirty="0">
                <a:solidFill>
                  <a:schemeClr val="bg1"/>
                </a:solidFill>
              </a:rPr>
              <a:t>Cilium Cluster Mesh</a:t>
            </a:r>
            <a:endParaRPr lang="en-US" sz="2000" dirty="0"/>
          </a:p>
        </p:txBody>
      </p:sp>
      <p:sp>
        <p:nvSpPr>
          <p:cNvPr id="5" name="Link Cluster A"/>
          <p:cNvSpPr/>
          <p:nvPr/>
        </p:nvSpPr>
        <p:spPr>
          <a:xfrm>
            <a:off x="1371600" y="2377440"/>
            <a:ext cx="0" cy="640080"/>
          </a:xfrm>
          <a:prstGeom prst="line">
            <a:avLst/>
          </a:prstGeom>
          <a:noFill/>
          <a:ln w="25400">
            <a:solidFill>
              <a:schemeClr val="accent6"/>
            </a:solidFill>
            <a:prstDash val="solid"/>
          </a:ln>
        </p:spPr>
      </p:sp>
      <p:sp>
        <p:nvSpPr>
          <p:cNvPr id="6" name="Cluster A"/>
          <p:cNvSpPr/>
          <p:nvPr/>
        </p:nvSpPr>
        <p:spPr>
          <a:xfrm>
            <a:off x="548640" y="3017520"/>
            <a:ext cx="1645920" cy="1188720"/>
          </a:xfrm>
          <a:prstGeom prst="roundRect">
            <a:avLst>
              <a:gd name="adj" fmla="val 9231"/>
            </a:avLst>
          </a:prstGeom>
          <a:solidFill>
            <a:schemeClr val="bg2"/>
          </a:solidFill>
          <a:ln/>
        </p:spPr>
      </p:sp>
      <p:sp>
        <p:nvSpPr>
          <p:cNvPr id="7" name="Text 5"/>
          <p:cNvSpPr txBox="1"/>
          <p:nvPr/>
        </p:nvSpPr>
        <p:spPr>
          <a:xfrm>
            <a:off x="548640" y="3017520"/>
            <a:ext cx="1645920" cy="1188720"/>
          </a:xfrm>
          <a:prstGeom prst="rect">
            <a:avLst/>
          </a:prstGeom>
          <a:noFill/>
          <a:ln/>
        </p:spPr>
        <p:txBody>
          <a:bodyPr wrap="square" lIns="0" tIns="0" rIns="0" bIns="0" rtlCol="0" anchor="ctr"/>
          <a:lstStyle/>
          <a:p>
            <a:pPr algn="ctr" indent="0" marL="0">
              <a:buNone/>
            </a:pPr>
            <a:r>
              <a:rPr lang="en-US" sz="1600" b="1" dirty="0">
                <a:solidFill>
                  <a:schemeClr val="tx2"/>
                </a:solidFill>
              </a:rPr>
              <a:t>Cluster A</a:t>
            </a:r>
            <a:endParaRPr lang="en-US" sz="1600" dirty="0"/>
          </a:p>
          <a:p>
            <a:pPr algn="ctr" indent="0" marL="0">
              <a:buNone/>
            </a:pPr>
            <a:r>
              <a:rPr lang="en-US" sz="1200" dirty="0">
                <a:solidFill>
                  <a:schemeClr val="accent6"/>
                </a:solidFill>
              </a:rPr>
              <a:t>own account</a:t>
            </a:r>
            <a:endParaRPr lang="en-US" sz="1600" dirty="0"/>
          </a:p>
        </p:txBody>
      </p:sp>
      <p:sp>
        <p:nvSpPr>
          <p:cNvPr id="8" name="Link Cluster B"/>
          <p:cNvSpPr/>
          <p:nvPr/>
        </p:nvSpPr>
        <p:spPr>
          <a:xfrm>
            <a:off x="3474720" y="2377440"/>
            <a:ext cx="0" cy="640080"/>
          </a:xfrm>
          <a:prstGeom prst="line">
            <a:avLst/>
          </a:prstGeom>
          <a:noFill/>
          <a:ln w="25400">
            <a:solidFill>
              <a:schemeClr val="accent6"/>
            </a:solidFill>
            <a:prstDash val="solid"/>
          </a:ln>
        </p:spPr>
      </p:sp>
      <p:sp>
        <p:nvSpPr>
          <p:cNvPr id="9" name="Cluster B"/>
          <p:cNvSpPr/>
          <p:nvPr/>
        </p:nvSpPr>
        <p:spPr>
          <a:xfrm>
            <a:off x="2651760" y="3017520"/>
            <a:ext cx="1645920" cy="1188720"/>
          </a:xfrm>
          <a:prstGeom prst="roundRect">
            <a:avLst>
              <a:gd name="adj" fmla="val 9231"/>
            </a:avLst>
          </a:prstGeom>
          <a:solidFill>
            <a:schemeClr val="bg2"/>
          </a:solidFill>
          <a:ln/>
        </p:spPr>
      </p:sp>
      <p:sp>
        <p:nvSpPr>
          <p:cNvPr id="10" name="Text 8"/>
          <p:cNvSpPr txBox="1"/>
          <p:nvPr/>
        </p:nvSpPr>
        <p:spPr>
          <a:xfrm>
            <a:off x="2651760" y="3017520"/>
            <a:ext cx="1645920" cy="1188720"/>
          </a:xfrm>
          <a:prstGeom prst="rect">
            <a:avLst/>
          </a:prstGeom>
          <a:noFill/>
          <a:ln/>
        </p:spPr>
        <p:txBody>
          <a:bodyPr wrap="square" lIns="0" tIns="0" rIns="0" bIns="0" rtlCol="0" anchor="ctr"/>
          <a:lstStyle/>
          <a:p>
            <a:pPr algn="ctr" indent="0" marL="0">
              <a:buNone/>
            </a:pPr>
            <a:r>
              <a:rPr lang="en-US" sz="1600" b="1" dirty="0">
                <a:solidFill>
                  <a:schemeClr val="tx2"/>
                </a:solidFill>
              </a:rPr>
              <a:t>Cluster B</a:t>
            </a:r>
            <a:endParaRPr lang="en-US" sz="1600" dirty="0"/>
          </a:p>
          <a:p>
            <a:pPr algn="ctr" indent="0" marL="0">
              <a:buNone/>
            </a:pPr>
            <a:r>
              <a:rPr lang="en-US" sz="1200" dirty="0">
                <a:solidFill>
                  <a:schemeClr val="accent6"/>
                </a:solidFill>
              </a:rPr>
              <a:t>own account</a:t>
            </a:r>
            <a:endParaRPr lang="en-US" sz="1600" dirty="0"/>
          </a:p>
        </p:txBody>
      </p:sp>
      <p:sp>
        <p:nvSpPr>
          <p:cNvPr id="11" name="Link Cluster C"/>
          <p:cNvSpPr/>
          <p:nvPr/>
        </p:nvSpPr>
        <p:spPr>
          <a:xfrm>
            <a:off x="5577840" y="2377440"/>
            <a:ext cx="0" cy="640080"/>
          </a:xfrm>
          <a:prstGeom prst="line">
            <a:avLst/>
          </a:prstGeom>
          <a:noFill/>
          <a:ln w="25400">
            <a:solidFill>
              <a:schemeClr val="accent6"/>
            </a:solidFill>
            <a:prstDash val="solid"/>
          </a:ln>
        </p:spPr>
      </p:sp>
      <p:sp>
        <p:nvSpPr>
          <p:cNvPr id="12" name="Cluster C"/>
          <p:cNvSpPr/>
          <p:nvPr/>
        </p:nvSpPr>
        <p:spPr>
          <a:xfrm>
            <a:off x="4754880" y="3017520"/>
            <a:ext cx="1645920" cy="1188720"/>
          </a:xfrm>
          <a:prstGeom prst="roundRect">
            <a:avLst>
              <a:gd name="adj" fmla="val 9231"/>
            </a:avLst>
          </a:prstGeom>
          <a:solidFill>
            <a:schemeClr val="bg2"/>
          </a:solidFill>
          <a:ln/>
        </p:spPr>
      </p:sp>
      <p:sp>
        <p:nvSpPr>
          <p:cNvPr id="13" name="Text 11"/>
          <p:cNvSpPr txBox="1"/>
          <p:nvPr/>
        </p:nvSpPr>
        <p:spPr>
          <a:xfrm>
            <a:off x="4754880" y="3017520"/>
            <a:ext cx="1645920" cy="1188720"/>
          </a:xfrm>
          <a:prstGeom prst="rect">
            <a:avLst/>
          </a:prstGeom>
          <a:noFill/>
          <a:ln/>
        </p:spPr>
        <p:txBody>
          <a:bodyPr wrap="square" lIns="0" tIns="0" rIns="0" bIns="0" rtlCol="0" anchor="ctr"/>
          <a:lstStyle/>
          <a:p>
            <a:pPr algn="ctr" indent="0" marL="0">
              <a:buNone/>
            </a:pPr>
            <a:r>
              <a:rPr lang="en-US" sz="1600" b="1" dirty="0">
                <a:solidFill>
                  <a:schemeClr val="tx2"/>
                </a:solidFill>
              </a:rPr>
              <a:t>Cluster C</a:t>
            </a:r>
            <a:endParaRPr lang="en-US" sz="1600" dirty="0"/>
          </a:p>
          <a:p>
            <a:pPr algn="ctr" indent="0" marL="0">
              <a:buNone/>
            </a:pPr>
            <a:r>
              <a:rPr lang="en-US" sz="1200" dirty="0">
                <a:solidFill>
                  <a:schemeClr val="accent6"/>
                </a:solidFill>
              </a:rPr>
              <a:t>own account</a:t>
            </a:r>
            <a:endParaRPr lang="en-US" sz="1600" dirty="0"/>
          </a:p>
        </p:txBody>
      </p:sp>
      <p:sp>
        <p:nvSpPr>
          <p:cNvPr id="14" name="Prerequisites callout"/>
          <p:cNvSpPr/>
          <p:nvPr/>
        </p:nvSpPr>
        <p:spPr>
          <a:xfrm>
            <a:off x="548640" y="4526280"/>
            <a:ext cx="5852160" cy="1325880"/>
          </a:xfrm>
          <a:prstGeom prst="roundRect">
            <a:avLst>
              <a:gd name="adj" fmla="val 8276"/>
            </a:avLst>
          </a:prstGeom>
          <a:solidFill>
            <a:schemeClr val="bg2"/>
          </a:solidFill>
          <a:ln/>
        </p:spPr>
      </p:sp>
      <p:sp>
        <p:nvSpPr>
          <p:cNvPr id="15" name="Text 13"/>
          <p:cNvSpPr txBox="1"/>
          <p:nvPr/>
        </p:nvSpPr>
        <p:spPr>
          <a:xfrm>
            <a:off x="777240" y="4663440"/>
            <a:ext cx="5394960" cy="1097280"/>
          </a:xfrm>
          <a:prstGeom prst="rect">
            <a:avLst/>
          </a:prstGeom>
          <a:noFill/>
          <a:ln/>
        </p:spPr>
        <p:txBody>
          <a:bodyPr wrap="square" lIns="0" tIns="0" rIns="0" bIns="0" rtlCol="0" anchor="t"/>
          <a:lstStyle/>
          <a:p>
            <a:pPr indent="0" marL="0">
              <a:buNone/>
            </a:pPr>
            <a:r>
              <a:rPr lang="en-US" sz="1600" b="1" dirty="0">
                <a:solidFill>
                  <a:schemeClr val="accent5"/>
                </a:solidFill>
              </a:rPr>
              <a:t>Prerequisites</a:t>
            </a:r>
            <a:endParaRPr lang="en-US" sz="1600" dirty="0"/>
          </a:p>
          <a:p>
            <a:pPr indent="0" marL="0">
              <a:buNone/>
            </a:pPr>
            <a:r>
              <a:rPr lang="en-US" sz="1400" dirty="0">
                <a:solidFill>
                  <a:schemeClr val="tx1"/>
                </a:solidFill>
              </a:rPr>
              <a:t>Unique cluster IDs, non-overlapping pod CIDRs, and a network path between accounts.</a:t>
            </a:r>
            <a:endParaRPr lang="en-US" sz="1600" dirty="0"/>
          </a:p>
        </p:txBody>
      </p:sp>
      <p:sp>
        <p:nvSpPr>
          <p:cNvPr id="16" name="Text 14"/>
          <p:cNvSpPr txBox="1"/>
          <p:nvPr/>
        </p:nvSpPr>
        <p:spPr>
          <a:xfrm>
            <a:off x="6858000" y="1554480"/>
            <a:ext cx="4754880" cy="411480"/>
          </a:xfrm>
          <a:prstGeom prst="rect">
            <a:avLst/>
          </a:prstGeom>
          <a:noFill/>
          <a:ln/>
        </p:spPr>
        <p:txBody>
          <a:bodyPr wrap="square" lIns="0" tIns="0" rIns="0" bIns="0" rtlCol="0" anchor="t"/>
          <a:lstStyle/>
          <a:p>
            <a:pPr indent="0" marL="0">
              <a:buNone/>
            </a:pPr>
            <a:r>
              <a:rPr lang="en-US" sz="2000" b="1" dirty="0">
                <a:solidFill>
                  <a:schemeClr val="accent1"/>
                </a:solidFill>
              </a:rPr>
              <a:t>What the mesh gives us</a:t>
            </a:r>
            <a:endParaRPr lang="en-US" sz="2000" dirty="0"/>
          </a:p>
        </p:txBody>
      </p:sp>
      <p:sp>
        <p:nvSpPr>
          <p:cNvPr id="17" name="Text 15"/>
          <p:cNvSpPr txBox="1"/>
          <p:nvPr/>
        </p:nvSpPr>
        <p:spPr>
          <a:xfrm>
            <a:off x="6858000" y="2103120"/>
            <a:ext cx="4754880" cy="3749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Global services: one service name backed by pods in several clusters, with failover</a:t>
            </a:r>
            <a:endParaRPr lang="en-US" sz="1600" dirty="0"/>
          </a:p>
          <a:p>
            <a:pPr marL="342900" indent="-342900">
              <a:spcAft>
                <a:spcPts val="800"/>
              </a:spcAft>
              <a:buSzPct val="100000"/>
              <a:buChar char="•"/>
            </a:pPr>
            <a:r>
              <a:rPr lang="en-US" sz="1600" dirty="0">
                <a:solidFill>
                  <a:schemeClr val="tx1"/>
                </a:solidFill>
              </a:rPr>
              <a:t>Cross-cluster service discovery without a separate mesh product</a:t>
            </a:r>
            <a:endParaRPr lang="en-US" sz="1600" dirty="0"/>
          </a:p>
          <a:p>
            <a:pPr marL="342900" indent="-342900">
              <a:spcAft>
                <a:spcPts val="800"/>
              </a:spcAft>
              <a:buSzPct val="100000"/>
              <a:buChar char="•"/>
            </a:pPr>
            <a:r>
              <a:rPr lang="en-US" sz="1600" dirty="0">
                <a:solidFill>
                  <a:schemeClr val="tx1"/>
                </a:solidFill>
              </a:rPr>
              <a:t>Network policy that can match workloads across clusters</a:t>
            </a:r>
            <a:endParaRPr lang="en-US" sz="1600" dirty="0"/>
          </a:p>
          <a:p>
            <a:pPr marL="342900" indent="-342900">
              <a:spcAft>
                <a:spcPts val="800"/>
              </a:spcAft>
              <a:buSzPct val="100000"/>
              <a:buChar char="•"/>
            </a:pPr>
            <a:r>
              <a:rPr lang="en-US" sz="1600" dirty="0">
                <a:solidFill>
                  <a:schemeClr val="tx1"/>
                </a:solidFill>
              </a:rPr>
              <a:t>Sidecarless: L7 features run in per-node Envoy, not in a sidecar per pod</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else Cilium gives us</a:t>
            </a:r>
            <a:endParaRPr lang="en-US" sz="3600" dirty="0"/>
          </a:p>
        </p:txBody>
      </p:sp>
      <p:sp>
        <p:nvSpPr>
          <p:cNvPr id="3" name="Feature Hubble observability"/>
          <p:cNvSpPr/>
          <p:nvPr/>
        </p:nvSpPr>
        <p:spPr>
          <a:xfrm>
            <a:off x="548640" y="1463040"/>
            <a:ext cx="3566160" cy="2103120"/>
          </a:xfrm>
          <a:prstGeom prst="roundRect">
            <a:avLst>
              <a:gd name="adj" fmla="val 5217"/>
            </a:avLst>
          </a:prstGeom>
          <a:solidFill>
            <a:schemeClr val="bg2"/>
          </a:solidFill>
          <a:ln/>
        </p:spPr>
      </p:sp>
      <p:sp>
        <p:nvSpPr>
          <p:cNvPr id="4" name="Hubble observability circle"/>
          <p:cNvSpPr/>
          <p:nvPr/>
        </p:nvSpPr>
        <p:spPr>
          <a:xfrm>
            <a:off x="731520" y="1645920"/>
            <a:ext cx="548640" cy="548640"/>
          </a:xfrm>
          <a:prstGeom prst="ellipse">
            <a:avLst/>
          </a:prstGeom>
          <a:solidFill>
            <a:schemeClr val="accent1"/>
          </a:solidFill>
          <a:ln/>
        </p:spPr>
      </p:sp>
      <p:pic>
        <p:nvPicPr>
          <p:cNvPr id="5" name="Hubble observability icon" descr="Hubble observability">    </p:cNvPr>
          <p:cNvPicPr>
            <a:picLocks noChangeAspect="1"/>
          </p:cNvPicPr>
          <p:nvPr/>
        </p:nvPicPr>
        <p:blipFill>
          <a:blip r:embed="rId1"/>
          <a:stretch>
            <a:fillRect/>
          </a:stretch>
        </p:blipFill>
        <p:spPr>
          <a:xfrm>
            <a:off x="868680" y="1783080"/>
            <a:ext cx="274320" cy="274320"/>
          </a:xfrm>
          <a:prstGeom prst="rect">
            <a:avLst/>
          </a:prstGeom>
        </p:spPr>
      </p:pic>
      <p:sp>
        <p:nvSpPr>
          <p:cNvPr id="6" name="Text 3"/>
          <p:cNvSpPr txBox="1"/>
          <p:nvPr/>
        </p:nvSpPr>
        <p:spPr>
          <a:xfrm>
            <a:off x="1417320" y="1645920"/>
            <a:ext cx="2560320" cy="548640"/>
          </a:xfrm>
          <a:prstGeom prst="rect">
            <a:avLst/>
          </a:prstGeom>
          <a:noFill/>
          <a:ln/>
        </p:spPr>
        <p:txBody>
          <a:bodyPr wrap="square" lIns="0" tIns="0" rIns="0" bIns="0" rtlCol="0" anchor="ctr"/>
          <a:lstStyle/>
          <a:p>
            <a:pPr indent="0" marL="0">
              <a:buNone/>
            </a:pPr>
            <a:r>
              <a:rPr lang="en-US" sz="1800" b="1" dirty="0">
                <a:solidFill>
                  <a:schemeClr val="tx2"/>
                </a:solidFill>
              </a:rPr>
              <a:t>Hubble observability</a:t>
            </a:r>
            <a:endParaRPr lang="en-US" sz="1800" dirty="0"/>
          </a:p>
        </p:txBody>
      </p:sp>
      <p:sp>
        <p:nvSpPr>
          <p:cNvPr id="7" name="Text 4"/>
          <p:cNvSpPr txBox="1"/>
          <p:nvPr/>
        </p:nvSpPr>
        <p:spPr>
          <a:xfrm>
            <a:off x="731520" y="2377440"/>
            <a:ext cx="3200400" cy="1097280"/>
          </a:xfrm>
          <a:prstGeom prst="rect">
            <a:avLst/>
          </a:prstGeom>
          <a:noFill/>
          <a:ln/>
        </p:spPr>
        <p:txBody>
          <a:bodyPr wrap="square" lIns="0" tIns="0" rIns="0" bIns="0" rtlCol="0" anchor="t"/>
          <a:lstStyle/>
          <a:p>
            <a:pPr indent="0" marL="0">
              <a:buNone/>
            </a:pPr>
            <a:r>
              <a:rPr lang="en-US" sz="1400" dirty="0">
                <a:solidFill>
                  <a:schemeClr val="tx1"/>
                </a:solidFill>
              </a:rPr>
              <a:t>Flow visibility and metrics for pod-to-pod traffic, up to L7. Useful for troubleshooting and audit.</a:t>
            </a:r>
            <a:endParaRPr lang="en-US" sz="1400" dirty="0"/>
          </a:p>
        </p:txBody>
      </p:sp>
      <p:sp>
        <p:nvSpPr>
          <p:cNvPr id="8" name="Feature L3 to L7 network policy"/>
          <p:cNvSpPr/>
          <p:nvPr/>
        </p:nvSpPr>
        <p:spPr>
          <a:xfrm>
            <a:off x="4297680" y="1463040"/>
            <a:ext cx="3566160" cy="2103120"/>
          </a:xfrm>
          <a:prstGeom prst="roundRect">
            <a:avLst>
              <a:gd name="adj" fmla="val 5217"/>
            </a:avLst>
          </a:prstGeom>
          <a:solidFill>
            <a:schemeClr val="bg2"/>
          </a:solidFill>
          <a:ln/>
        </p:spPr>
      </p:sp>
      <p:sp>
        <p:nvSpPr>
          <p:cNvPr id="9" name="L3 to L7 network policy circle"/>
          <p:cNvSpPr/>
          <p:nvPr/>
        </p:nvSpPr>
        <p:spPr>
          <a:xfrm>
            <a:off x="4480560" y="1645920"/>
            <a:ext cx="548640" cy="548640"/>
          </a:xfrm>
          <a:prstGeom prst="ellipse">
            <a:avLst/>
          </a:prstGeom>
          <a:solidFill>
            <a:schemeClr val="accent1"/>
          </a:solidFill>
          <a:ln/>
        </p:spPr>
      </p:sp>
      <p:pic>
        <p:nvPicPr>
          <p:cNvPr id="10" name="L3 to L7 network policy icon" descr="L3 to L7 network policy">    </p:cNvPr>
          <p:cNvPicPr>
            <a:picLocks noChangeAspect="1"/>
          </p:cNvPicPr>
          <p:nvPr/>
        </p:nvPicPr>
        <p:blipFill>
          <a:blip r:embed="rId2"/>
          <a:stretch>
            <a:fillRect/>
          </a:stretch>
        </p:blipFill>
        <p:spPr>
          <a:xfrm>
            <a:off x="4617720" y="1783080"/>
            <a:ext cx="274320" cy="274320"/>
          </a:xfrm>
          <a:prstGeom prst="rect">
            <a:avLst/>
          </a:prstGeom>
        </p:spPr>
      </p:pic>
      <p:sp>
        <p:nvSpPr>
          <p:cNvPr id="11" name="Text 7"/>
          <p:cNvSpPr txBox="1"/>
          <p:nvPr/>
        </p:nvSpPr>
        <p:spPr>
          <a:xfrm>
            <a:off x="5166360" y="1645920"/>
            <a:ext cx="2560320" cy="548640"/>
          </a:xfrm>
          <a:prstGeom prst="rect">
            <a:avLst/>
          </a:prstGeom>
          <a:noFill/>
          <a:ln/>
        </p:spPr>
        <p:txBody>
          <a:bodyPr wrap="square" lIns="0" tIns="0" rIns="0" bIns="0" rtlCol="0" anchor="ctr"/>
          <a:lstStyle/>
          <a:p>
            <a:pPr indent="0" marL="0">
              <a:buNone/>
            </a:pPr>
            <a:r>
              <a:rPr lang="en-US" sz="1800" b="1" dirty="0">
                <a:solidFill>
                  <a:schemeClr val="tx2"/>
                </a:solidFill>
              </a:rPr>
              <a:t>L3 to L7 network policy</a:t>
            </a:r>
            <a:endParaRPr lang="en-US" sz="1800" dirty="0"/>
          </a:p>
        </p:txBody>
      </p:sp>
      <p:sp>
        <p:nvSpPr>
          <p:cNvPr id="12" name="Text 8"/>
          <p:cNvSpPr txBox="1"/>
          <p:nvPr/>
        </p:nvSpPr>
        <p:spPr>
          <a:xfrm>
            <a:off x="4480560" y="2377440"/>
            <a:ext cx="3200400" cy="1097280"/>
          </a:xfrm>
          <a:prstGeom prst="rect">
            <a:avLst/>
          </a:prstGeom>
          <a:noFill/>
          <a:ln/>
        </p:spPr>
        <p:txBody>
          <a:bodyPr wrap="square" lIns="0" tIns="0" rIns="0" bIns="0" rtlCol="0" anchor="t"/>
          <a:lstStyle/>
          <a:p>
            <a:pPr indent="0" marL="0">
              <a:buNone/>
            </a:pPr>
            <a:r>
              <a:rPr lang="en-US" sz="1400" dirty="0">
                <a:solidFill>
                  <a:schemeClr val="tx1"/>
                </a:solidFill>
              </a:rPr>
              <a:t>CiliumNetworkPolicy adds FQDN and HTTP-aware rules on top of standard NetworkPolicy.</a:t>
            </a:r>
            <a:endParaRPr lang="en-US" sz="1400" dirty="0"/>
          </a:p>
        </p:txBody>
      </p:sp>
      <p:sp>
        <p:nvSpPr>
          <p:cNvPr id="13" name="Feature Transparent encryption"/>
          <p:cNvSpPr/>
          <p:nvPr/>
        </p:nvSpPr>
        <p:spPr>
          <a:xfrm>
            <a:off x="8046720" y="1463040"/>
            <a:ext cx="3566160" cy="2103120"/>
          </a:xfrm>
          <a:prstGeom prst="roundRect">
            <a:avLst>
              <a:gd name="adj" fmla="val 5217"/>
            </a:avLst>
          </a:prstGeom>
          <a:solidFill>
            <a:schemeClr val="bg2"/>
          </a:solidFill>
          <a:ln/>
        </p:spPr>
      </p:sp>
      <p:sp>
        <p:nvSpPr>
          <p:cNvPr id="14" name="Transparent encryption circle"/>
          <p:cNvSpPr/>
          <p:nvPr/>
        </p:nvSpPr>
        <p:spPr>
          <a:xfrm>
            <a:off x="8229600" y="1645920"/>
            <a:ext cx="548640" cy="548640"/>
          </a:xfrm>
          <a:prstGeom prst="ellipse">
            <a:avLst/>
          </a:prstGeom>
          <a:solidFill>
            <a:schemeClr val="accent1"/>
          </a:solidFill>
          <a:ln/>
        </p:spPr>
      </p:sp>
      <p:pic>
        <p:nvPicPr>
          <p:cNvPr id="15" name="Transparent encryption icon" descr="Transparent encryption">    </p:cNvPr>
          <p:cNvPicPr>
            <a:picLocks noChangeAspect="1"/>
          </p:cNvPicPr>
          <p:nvPr/>
        </p:nvPicPr>
        <p:blipFill>
          <a:blip r:embed="rId3"/>
          <a:stretch>
            <a:fillRect/>
          </a:stretch>
        </p:blipFill>
        <p:spPr>
          <a:xfrm>
            <a:off x="8366760" y="1783080"/>
            <a:ext cx="274320" cy="274320"/>
          </a:xfrm>
          <a:prstGeom prst="rect">
            <a:avLst/>
          </a:prstGeom>
        </p:spPr>
      </p:pic>
      <p:sp>
        <p:nvSpPr>
          <p:cNvPr id="16" name="Text 11"/>
          <p:cNvSpPr txBox="1"/>
          <p:nvPr/>
        </p:nvSpPr>
        <p:spPr>
          <a:xfrm>
            <a:off x="8915400" y="1645920"/>
            <a:ext cx="2560320" cy="548640"/>
          </a:xfrm>
          <a:prstGeom prst="rect">
            <a:avLst/>
          </a:prstGeom>
          <a:noFill/>
          <a:ln/>
        </p:spPr>
        <p:txBody>
          <a:bodyPr wrap="square" lIns="0" tIns="0" rIns="0" bIns="0" rtlCol="0" anchor="ctr"/>
          <a:lstStyle/>
          <a:p>
            <a:pPr indent="0" marL="0">
              <a:buNone/>
            </a:pPr>
            <a:r>
              <a:rPr lang="en-US" sz="1800" b="1" dirty="0">
                <a:solidFill>
                  <a:schemeClr val="tx2"/>
                </a:solidFill>
              </a:rPr>
              <a:t>Transparent encryption</a:t>
            </a:r>
            <a:endParaRPr lang="en-US" sz="1800" dirty="0"/>
          </a:p>
        </p:txBody>
      </p:sp>
      <p:sp>
        <p:nvSpPr>
          <p:cNvPr id="17" name="Text 12"/>
          <p:cNvSpPr txBox="1"/>
          <p:nvPr/>
        </p:nvSpPr>
        <p:spPr>
          <a:xfrm>
            <a:off x="8229600" y="2377440"/>
            <a:ext cx="3200400" cy="1097280"/>
          </a:xfrm>
          <a:prstGeom prst="rect">
            <a:avLst/>
          </a:prstGeom>
          <a:noFill/>
          <a:ln/>
        </p:spPr>
        <p:txBody>
          <a:bodyPr wrap="square" lIns="0" tIns="0" rIns="0" bIns="0" rtlCol="0" anchor="t"/>
          <a:lstStyle/>
          <a:p>
            <a:pPr indent="0" marL="0">
              <a:buNone/>
            </a:pPr>
            <a:r>
              <a:rPr lang="en-US" sz="1400" dirty="0">
                <a:solidFill>
                  <a:schemeClr val="tx1"/>
                </a:solidFill>
              </a:rPr>
              <a:t>WireGuard or IPsec between nodes. In-transit encryption with no application changes.</a:t>
            </a:r>
            <a:endParaRPr lang="en-US" sz="1400" dirty="0"/>
          </a:p>
        </p:txBody>
      </p:sp>
      <p:sp>
        <p:nvSpPr>
          <p:cNvPr id="18" name="Feature kube-proxy replacement"/>
          <p:cNvSpPr/>
          <p:nvPr/>
        </p:nvSpPr>
        <p:spPr>
          <a:xfrm>
            <a:off x="548640" y="3749040"/>
            <a:ext cx="3566160" cy="2103120"/>
          </a:xfrm>
          <a:prstGeom prst="roundRect">
            <a:avLst>
              <a:gd name="adj" fmla="val 5217"/>
            </a:avLst>
          </a:prstGeom>
          <a:solidFill>
            <a:schemeClr val="bg2"/>
          </a:solidFill>
          <a:ln/>
        </p:spPr>
      </p:sp>
      <p:sp>
        <p:nvSpPr>
          <p:cNvPr id="19" name="kube-proxy replacement circle"/>
          <p:cNvSpPr/>
          <p:nvPr/>
        </p:nvSpPr>
        <p:spPr>
          <a:xfrm>
            <a:off x="731520" y="3931920"/>
            <a:ext cx="548640" cy="548640"/>
          </a:xfrm>
          <a:prstGeom prst="ellipse">
            <a:avLst/>
          </a:prstGeom>
          <a:solidFill>
            <a:schemeClr val="accent1"/>
          </a:solidFill>
          <a:ln/>
        </p:spPr>
      </p:sp>
      <p:pic>
        <p:nvPicPr>
          <p:cNvPr id="20" name="kube-proxy replacement icon" descr="kube-proxy replacement">    </p:cNvPr>
          <p:cNvPicPr>
            <a:picLocks noChangeAspect="1"/>
          </p:cNvPicPr>
          <p:nvPr/>
        </p:nvPicPr>
        <p:blipFill>
          <a:blip r:embed="rId4"/>
          <a:stretch>
            <a:fillRect/>
          </a:stretch>
        </p:blipFill>
        <p:spPr>
          <a:xfrm>
            <a:off x="868680" y="4069080"/>
            <a:ext cx="274320" cy="274320"/>
          </a:xfrm>
          <a:prstGeom prst="rect">
            <a:avLst/>
          </a:prstGeom>
        </p:spPr>
      </p:pic>
      <p:sp>
        <p:nvSpPr>
          <p:cNvPr id="21" name="Text 15"/>
          <p:cNvSpPr txBox="1"/>
          <p:nvPr/>
        </p:nvSpPr>
        <p:spPr>
          <a:xfrm>
            <a:off x="1417320" y="3931920"/>
            <a:ext cx="2560320" cy="548640"/>
          </a:xfrm>
          <a:prstGeom prst="rect">
            <a:avLst/>
          </a:prstGeom>
          <a:noFill/>
          <a:ln/>
        </p:spPr>
        <p:txBody>
          <a:bodyPr wrap="square" lIns="0" tIns="0" rIns="0" bIns="0" rtlCol="0" anchor="ctr"/>
          <a:lstStyle/>
          <a:p>
            <a:pPr indent="0" marL="0">
              <a:buNone/>
            </a:pPr>
            <a:r>
              <a:rPr lang="en-US" sz="1800" b="1" dirty="0">
                <a:solidFill>
                  <a:schemeClr val="tx2"/>
                </a:solidFill>
              </a:rPr>
              <a:t>kube-proxy replacement</a:t>
            </a:r>
            <a:endParaRPr lang="en-US" sz="1800" dirty="0"/>
          </a:p>
        </p:txBody>
      </p:sp>
      <p:sp>
        <p:nvSpPr>
          <p:cNvPr id="22" name="Text 16"/>
          <p:cNvSpPr txBox="1"/>
          <p:nvPr/>
        </p:nvSpPr>
        <p:spPr>
          <a:xfrm>
            <a:off x="731520" y="4663440"/>
            <a:ext cx="3200400" cy="1097280"/>
          </a:xfrm>
          <a:prstGeom prst="rect">
            <a:avLst/>
          </a:prstGeom>
          <a:noFill/>
          <a:ln/>
        </p:spPr>
        <p:txBody>
          <a:bodyPr wrap="square" lIns="0" tIns="0" rIns="0" bIns="0" rtlCol="0" anchor="t"/>
          <a:lstStyle/>
          <a:p>
            <a:pPr indent="0" marL="0">
              <a:buNone/>
            </a:pPr>
            <a:r>
              <a:rPr lang="en-US" sz="1400" dirty="0">
                <a:solidFill>
                  <a:schemeClr val="tx1"/>
                </a:solidFill>
              </a:rPr>
              <a:t>eBPF service load balancing instead of iptables rules on every node.</a:t>
            </a:r>
            <a:endParaRPr lang="en-US" sz="1400" dirty="0"/>
          </a:p>
        </p:txBody>
      </p:sp>
      <p:sp>
        <p:nvSpPr>
          <p:cNvPr id="23" name="Feature Gateway API support"/>
          <p:cNvSpPr/>
          <p:nvPr/>
        </p:nvSpPr>
        <p:spPr>
          <a:xfrm>
            <a:off x="4297680" y="3749040"/>
            <a:ext cx="3566160" cy="2103120"/>
          </a:xfrm>
          <a:prstGeom prst="roundRect">
            <a:avLst>
              <a:gd name="adj" fmla="val 5217"/>
            </a:avLst>
          </a:prstGeom>
          <a:solidFill>
            <a:schemeClr val="bg2"/>
          </a:solidFill>
          <a:ln/>
        </p:spPr>
      </p:sp>
      <p:sp>
        <p:nvSpPr>
          <p:cNvPr id="24" name="Gateway API support circle"/>
          <p:cNvSpPr/>
          <p:nvPr/>
        </p:nvSpPr>
        <p:spPr>
          <a:xfrm>
            <a:off x="4480560" y="3931920"/>
            <a:ext cx="548640" cy="548640"/>
          </a:xfrm>
          <a:prstGeom prst="ellipse">
            <a:avLst/>
          </a:prstGeom>
          <a:solidFill>
            <a:schemeClr val="accent1"/>
          </a:solidFill>
          <a:ln/>
        </p:spPr>
      </p:sp>
      <p:pic>
        <p:nvPicPr>
          <p:cNvPr id="25" name="Gateway API support icon" descr="Gateway API support">    </p:cNvPr>
          <p:cNvPicPr>
            <a:picLocks noChangeAspect="1"/>
          </p:cNvPicPr>
          <p:nvPr/>
        </p:nvPicPr>
        <p:blipFill>
          <a:blip r:embed="rId5"/>
          <a:stretch>
            <a:fillRect/>
          </a:stretch>
        </p:blipFill>
        <p:spPr>
          <a:xfrm>
            <a:off x="4617720" y="4069080"/>
            <a:ext cx="274320" cy="274320"/>
          </a:xfrm>
          <a:prstGeom prst="rect">
            <a:avLst/>
          </a:prstGeom>
        </p:spPr>
      </p:pic>
      <p:sp>
        <p:nvSpPr>
          <p:cNvPr id="26" name="Text 19"/>
          <p:cNvSpPr txBox="1"/>
          <p:nvPr/>
        </p:nvSpPr>
        <p:spPr>
          <a:xfrm>
            <a:off x="5166360" y="3931920"/>
            <a:ext cx="2560320" cy="548640"/>
          </a:xfrm>
          <a:prstGeom prst="rect">
            <a:avLst/>
          </a:prstGeom>
          <a:noFill/>
          <a:ln/>
        </p:spPr>
        <p:txBody>
          <a:bodyPr wrap="square" lIns="0" tIns="0" rIns="0" bIns="0" rtlCol="0" anchor="ctr"/>
          <a:lstStyle/>
          <a:p>
            <a:pPr indent="0" marL="0">
              <a:buNone/>
            </a:pPr>
            <a:r>
              <a:rPr lang="en-US" sz="1800" b="1" dirty="0">
                <a:solidFill>
                  <a:schemeClr val="tx2"/>
                </a:solidFill>
              </a:rPr>
              <a:t>Gateway API support</a:t>
            </a:r>
            <a:endParaRPr lang="en-US" sz="1800" dirty="0"/>
          </a:p>
        </p:txBody>
      </p:sp>
      <p:sp>
        <p:nvSpPr>
          <p:cNvPr id="27" name="Text 20"/>
          <p:cNvSpPr txBox="1"/>
          <p:nvPr/>
        </p:nvSpPr>
        <p:spPr>
          <a:xfrm>
            <a:off x="4480560" y="4663440"/>
            <a:ext cx="3200400" cy="1097280"/>
          </a:xfrm>
          <a:prstGeom prst="rect">
            <a:avLst/>
          </a:prstGeom>
          <a:noFill/>
          <a:ln/>
        </p:spPr>
        <p:txBody>
          <a:bodyPr wrap="square" lIns="0" tIns="0" rIns="0" bIns="0" rtlCol="0" anchor="t"/>
          <a:lstStyle/>
          <a:p>
            <a:pPr indent="0" marL="0">
              <a:buNone/>
            </a:pPr>
            <a:r>
              <a:rPr lang="en-US" sz="1400" dirty="0">
                <a:solidFill>
                  <a:schemeClr val="tx1"/>
                </a:solidFill>
              </a:rPr>
              <a:t>Gateway API implementation built in, for ingress and traffic routing.</a:t>
            </a:r>
            <a:endParaRPr lang="en-US" sz="1400" dirty="0"/>
          </a:p>
        </p:txBody>
      </p:sp>
      <p:sp>
        <p:nvSpPr>
          <p:cNvPr id="28" name="Feature Egress and host policy"/>
          <p:cNvSpPr/>
          <p:nvPr/>
        </p:nvSpPr>
        <p:spPr>
          <a:xfrm>
            <a:off x="8046720" y="3749040"/>
            <a:ext cx="3566160" cy="2103120"/>
          </a:xfrm>
          <a:prstGeom prst="roundRect">
            <a:avLst>
              <a:gd name="adj" fmla="val 5217"/>
            </a:avLst>
          </a:prstGeom>
          <a:solidFill>
            <a:schemeClr val="bg2"/>
          </a:solidFill>
          <a:ln/>
        </p:spPr>
      </p:sp>
      <p:sp>
        <p:nvSpPr>
          <p:cNvPr id="29" name="Egress and host policy circle"/>
          <p:cNvSpPr/>
          <p:nvPr/>
        </p:nvSpPr>
        <p:spPr>
          <a:xfrm>
            <a:off x="8229600" y="3931920"/>
            <a:ext cx="548640" cy="548640"/>
          </a:xfrm>
          <a:prstGeom prst="ellipse">
            <a:avLst/>
          </a:prstGeom>
          <a:solidFill>
            <a:schemeClr val="accent1"/>
          </a:solidFill>
          <a:ln/>
        </p:spPr>
      </p:sp>
      <p:pic>
        <p:nvPicPr>
          <p:cNvPr id="30" name="Egress and host policy icon" descr="Egress and host policy">    </p:cNvPr>
          <p:cNvPicPr>
            <a:picLocks noChangeAspect="1"/>
          </p:cNvPicPr>
          <p:nvPr/>
        </p:nvPicPr>
        <p:blipFill>
          <a:blip r:embed="rId6"/>
          <a:stretch>
            <a:fillRect/>
          </a:stretch>
        </p:blipFill>
        <p:spPr>
          <a:xfrm>
            <a:off x="8366760" y="4069080"/>
            <a:ext cx="274320" cy="274320"/>
          </a:xfrm>
          <a:prstGeom prst="rect">
            <a:avLst/>
          </a:prstGeom>
        </p:spPr>
      </p:pic>
      <p:sp>
        <p:nvSpPr>
          <p:cNvPr id="31" name="Text 23"/>
          <p:cNvSpPr txBox="1"/>
          <p:nvPr/>
        </p:nvSpPr>
        <p:spPr>
          <a:xfrm>
            <a:off x="8915400" y="3931920"/>
            <a:ext cx="2560320" cy="548640"/>
          </a:xfrm>
          <a:prstGeom prst="rect">
            <a:avLst/>
          </a:prstGeom>
          <a:noFill/>
          <a:ln/>
        </p:spPr>
        <p:txBody>
          <a:bodyPr wrap="square" lIns="0" tIns="0" rIns="0" bIns="0" rtlCol="0" anchor="ctr"/>
          <a:lstStyle/>
          <a:p>
            <a:pPr indent="0" marL="0">
              <a:buNone/>
            </a:pPr>
            <a:r>
              <a:rPr lang="en-US" sz="1800" b="1" dirty="0">
                <a:solidFill>
                  <a:schemeClr val="tx2"/>
                </a:solidFill>
              </a:rPr>
              <a:t>Egress and host policy</a:t>
            </a:r>
            <a:endParaRPr lang="en-US" sz="1800" dirty="0"/>
          </a:p>
        </p:txBody>
      </p:sp>
      <p:sp>
        <p:nvSpPr>
          <p:cNvPr id="32" name="Text 24"/>
          <p:cNvSpPr txBox="1"/>
          <p:nvPr/>
        </p:nvSpPr>
        <p:spPr>
          <a:xfrm>
            <a:off x="8229600" y="4663440"/>
            <a:ext cx="3200400" cy="1097280"/>
          </a:xfrm>
          <a:prstGeom prst="rect">
            <a:avLst/>
          </a:prstGeom>
          <a:noFill/>
          <a:ln/>
        </p:spPr>
        <p:txBody>
          <a:bodyPr wrap="square" lIns="0" tIns="0" rIns="0" bIns="0" rtlCol="0" anchor="t"/>
          <a:lstStyle/>
          <a:p>
            <a:pPr indent="0" marL="0">
              <a:buNone/>
            </a:pPr>
            <a:r>
              <a:rPr lang="en-US" sz="1400" dirty="0">
                <a:solidFill>
                  <a:schemeClr val="tx1"/>
                </a:solidFill>
              </a:rPr>
              <a:t>Egress gateway and host firewall to control traffic leaving the cluster and at the node.</a:t>
            </a:r>
            <a:endParaRPr lang="en-US" sz="1400" dirty="0"/>
          </a:p>
        </p:txBody>
      </p:sp>
      <p:sp>
        <p:nvSpPr>
          <p:cNvPr id="33" name="Text 25"/>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200" dirty="0">
                <a:solidFill>
                  <a:schemeClr val="accent6"/>
                </a:solidFill>
              </a:rPr>
              <a:t>Verify each against the Cilium version we pin and the controls we need to evidence.</a:t>
            </a:r>
            <a:endParaRPr lang="en-US" sz="12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Let Karpenter pick the instance</a:t>
            </a:r>
            <a:endParaRPr lang="en-US" sz="3600" dirty="0"/>
          </a:p>
        </p:txBody>
      </p:sp>
      <p:sp>
        <p:nvSpPr>
          <p:cNvPr id="3" name="Brupop card"/>
          <p:cNvSpPr/>
          <p:nvPr/>
        </p:nvSpPr>
        <p:spPr>
          <a:xfrm>
            <a:off x="548640" y="1508760"/>
            <a:ext cx="5120640" cy="3794760"/>
          </a:xfrm>
          <a:prstGeom prst="roundRect">
            <a:avLst>
              <a:gd name="adj" fmla="val 2892"/>
            </a:avLst>
          </a:prstGeom>
          <a:solidFill>
            <a:schemeClr val="bg2"/>
          </a:solidFill>
          <a:ln/>
        </p:spPr>
      </p:sp>
      <p:sp>
        <p:nvSpPr>
          <p:cNvPr id="4" name="Text 2"/>
          <p:cNvSpPr txBox="1"/>
          <p:nvPr/>
        </p:nvSpPr>
        <p:spPr>
          <a:xfrm>
            <a:off x="822960" y="1691640"/>
            <a:ext cx="4572000" cy="365760"/>
          </a:xfrm>
          <a:prstGeom prst="rect">
            <a:avLst/>
          </a:prstGeom>
          <a:noFill/>
          <a:ln/>
        </p:spPr>
        <p:txBody>
          <a:bodyPr wrap="square" lIns="0" tIns="0" rIns="0" bIns="0" rtlCol="0" anchor="t"/>
          <a:lstStyle/>
          <a:p>
            <a:pPr indent="0" marL="0">
              <a:buNone/>
            </a:pPr>
            <a:r>
              <a:rPr lang="en-US" sz="2000" b="1" dirty="0">
                <a:solidFill>
                  <a:schemeClr val="accent5"/>
                </a:solidFill>
              </a:rPr>
              <a:t>Brupop and node groups</a:t>
            </a:r>
            <a:endParaRPr lang="en-US" sz="2000" dirty="0"/>
          </a:p>
        </p:txBody>
      </p:sp>
      <p:sp>
        <p:nvSpPr>
          <p:cNvPr id="5" name="Text 3"/>
          <p:cNvSpPr txBox="1"/>
          <p:nvPr/>
        </p:nvSpPr>
        <p:spPr>
          <a:xfrm>
            <a:off x="822960" y="2286000"/>
            <a:ext cx="4572000" cy="29260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Brupop updates Bottlerocket nodes in place: cordon, drain, reboot</a:t>
            </a:r>
            <a:endParaRPr lang="en-US" sz="1800" dirty="0"/>
          </a:p>
          <a:p>
            <a:pPr marL="342900" indent="-342900">
              <a:spcAft>
                <a:spcPts val="800"/>
              </a:spcAft>
              <a:buSzPct val="100000"/>
              <a:buChar char="•"/>
            </a:pPr>
            <a:r>
              <a:rPr lang="en-US" sz="1800" dirty="0">
                <a:solidFill>
                  <a:schemeClr val="tx1"/>
                </a:solidFill>
              </a:rPr>
              <a:t>Instance types are fixed in node groups up front</a:t>
            </a:r>
            <a:endParaRPr lang="en-US" sz="1800" dirty="0"/>
          </a:p>
          <a:p>
            <a:pPr marL="342900" indent="-342900">
              <a:spcAft>
                <a:spcPts val="800"/>
              </a:spcAft>
              <a:buSzPct val="100000"/>
              <a:buChar char="•"/>
            </a:pPr>
            <a:r>
              <a:rPr lang="en-US" sz="1800" dirty="0">
                <a:solidFill>
                  <a:schemeClr val="tx1"/>
                </a:solidFill>
              </a:rPr>
              <a:t>Workloads find out after deployment whether the type fits</a:t>
            </a:r>
            <a:endParaRPr lang="en-US" sz="1800" dirty="0"/>
          </a:p>
          <a:p>
            <a:pPr marL="342900" indent="-342900">
              <a:spcAft>
                <a:spcPts val="800"/>
              </a:spcAft>
              <a:buSzPct val="100000"/>
              <a:buChar char="•"/>
            </a:pPr>
            <a:r>
              <a:rPr lang="en-US" sz="1800" dirty="0">
                <a:solidFill>
                  <a:schemeClr val="tx1"/>
                </a:solidFill>
              </a:rPr>
              <a:t>Right-sizing becomes a manual loop</a:t>
            </a:r>
            <a:endParaRPr lang="en-US" sz="1800" dirty="0"/>
          </a:p>
        </p:txBody>
      </p:sp>
      <p:sp>
        <p:nvSpPr>
          <p:cNvPr id="6" name="Karpenter arrow"/>
          <p:cNvSpPr/>
          <p:nvPr/>
        </p:nvSpPr>
        <p:spPr>
          <a:xfrm>
            <a:off x="5806440" y="3200400"/>
            <a:ext cx="594360" cy="411480"/>
          </a:xfrm>
          <a:prstGeom prst="rightArrow">
            <a:avLst/>
          </a:prstGeom>
          <a:solidFill>
            <a:schemeClr val="accent2"/>
          </a:solidFill>
          <a:ln/>
        </p:spPr>
      </p:sp>
      <p:sp>
        <p:nvSpPr>
          <p:cNvPr id="7" name="Karpenter card"/>
          <p:cNvSpPr/>
          <p:nvPr/>
        </p:nvSpPr>
        <p:spPr>
          <a:xfrm>
            <a:off x="6492240" y="1508760"/>
            <a:ext cx="5120640" cy="3794760"/>
          </a:xfrm>
          <a:prstGeom prst="roundRect">
            <a:avLst>
              <a:gd name="adj" fmla="val 2892"/>
            </a:avLst>
          </a:prstGeom>
          <a:solidFill>
            <a:schemeClr val="accent1"/>
          </a:solidFill>
          <a:ln/>
        </p:spPr>
      </p:sp>
      <p:sp>
        <p:nvSpPr>
          <p:cNvPr id="8" name="Text 6"/>
          <p:cNvSpPr txBox="1"/>
          <p:nvPr/>
        </p:nvSpPr>
        <p:spPr>
          <a:xfrm>
            <a:off x="6766560" y="1691640"/>
            <a:ext cx="4572000" cy="365760"/>
          </a:xfrm>
          <a:prstGeom prst="rect">
            <a:avLst/>
          </a:prstGeom>
          <a:noFill/>
          <a:ln/>
        </p:spPr>
        <p:txBody>
          <a:bodyPr wrap="square" lIns="0" tIns="0" rIns="0" bIns="0" rtlCol="0" anchor="t"/>
          <a:lstStyle/>
          <a:p>
            <a:pPr indent="0" marL="0">
              <a:buNone/>
            </a:pPr>
            <a:r>
              <a:rPr lang="en-US" sz="2000" b="1" dirty="0">
                <a:solidFill>
                  <a:schemeClr val="bg1"/>
                </a:solidFill>
              </a:rPr>
              <a:t>Karpenter</a:t>
            </a:r>
            <a:endParaRPr lang="en-US" sz="2000" dirty="0"/>
          </a:p>
        </p:txBody>
      </p:sp>
      <p:sp>
        <p:nvSpPr>
          <p:cNvPr id="9" name="Text 7"/>
          <p:cNvSpPr txBox="1"/>
          <p:nvPr/>
        </p:nvSpPr>
        <p:spPr>
          <a:xfrm>
            <a:off x="6766560" y="2286000"/>
            <a:ext cx="4572000" cy="29260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Pending pod requests drive provisioning, so the instance fits the workload</a:t>
            </a:r>
            <a:endParaRPr lang="en-US" sz="1800" dirty="0"/>
          </a:p>
          <a:p>
            <a:pPr marL="342900" indent="-342900">
              <a:spcAft>
                <a:spcPts val="800"/>
              </a:spcAft>
              <a:buSzPct val="100000"/>
              <a:buChar char="•"/>
            </a:pPr>
            <a:r>
              <a:rPr lang="en-US" sz="1800" dirty="0">
                <a:solidFill>
                  <a:schemeClr val="bg1"/>
                </a:solidFill>
              </a:rPr>
              <a:t>NodePools set the guardrails: families, sizes, architecture, capacity type</a:t>
            </a:r>
            <a:endParaRPr lang="en-US" sz="1800" dirty="0"/>
          </a:p>
          <a:p>
            <a:pPr marL="342900" indent="-342900">
              <a:spcAft>
                <a:spcPts val="800"/>
              </a:spcAft>
              <a:buSzPct val="100000"/>
              <a:buChar char="•"/>
            </a:pPr>
            <a:r>
              <a:rPr lang="en-US" sz="1800" dirty="0">
                <a:solidFill>
                  <a:schemeClr val="bg1"/>
                </a:solidFill>
              </a:rPr>
              <a:t>A new Bottlerocket AMI triggers drift: nodes are replaced, not updated in place</a:t>
            </a:r>
            <a:endParaRPr lang="en-US" sz="1800" dirty="0"/>
          </a:p>
          <a:p>
            <a:pPr marL="342900" indent="-342900">
              <a:spcAft>
                <a:spcPts val="800"/>
              </a:spcAft>
              <a:buSzPct val="100000"/>
              <a:buChar char="•"/>
            </a:pPr>
            <a:r>
              <a:rPr lang="en-US" sz="1800" dirty="0">
                <a:solidFill>
                  <a:schemeClr val="bg1"/>
                </a:solidFill>
              </a:rPr>
              <a:t>Consolidation removes underused nodes</a:t>
            </a:r>
            <a:endParaRPr lang="en-US" sz="1800" dirty="0"/>
          </a:p>
        </p:txBody>
      </p:sp>
      <p:sp>
        <p:nvSpPr>
          <p:cNvPr id="10" name="Text 8"/>
          <p:cNvSpPr txBox="1"/>
          <p:nvPr/>
        </p:nvSpPr>
        <p:spPr>
          <a:xfrm>
            <a:off x="548640" y="5577840"/>
            <a:ext cx="11064240" cy="457200"/>
          </a:xfrm>
          <a:prstGeom prst="rect">
            <a:avLst/>
          </a:prstGeom>
          <a:noFill/>
          <a:ln/>
        </p:spPr>
        <p:txBody>
          <a:bodyPr wrap="square" lIns="0" tIns="0" rIns="0" bIns="0" rtlCol="0" anchor="ctr"/>
          <a:lstStyle/>
          <a:p>
            <a:pPr algn="ctr" indent="0" marL="0">
              <a:buNone/>
            </a:pPr>
            <a:r>
              <a:rPr lang="en-US" sz="2000" b="1" i="1" dirty="0">
                <a:solidFill>
                  <a:schemeClr val="tx2"/>
                </a:solidFill>
              </a:rPr>
              <a:t>Workloads state what they need; Karpenter finds the instance.</a:t>
            </a:r>
            <a:endParaRPr lang="en-US" sz="2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Today versus proposed</a:t>
            </a:r>
            <a:endParaRPr lang="en-US" sz="3600" dirty="0"/>
          </a:p>
        </p:txBody>
      </p:sp>
      <p:graphicFrame>
        <p:nvGraphicFramePr>
          <p:cNvPr id="9" name="Comparison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828800"/>
                <a:gridCol w="2834640"/>
                <a:gridCol w="2926080"/>
                <a:gridCol w="3474720"/>
              </a:tblGrid>
              <a:tr h="548640">
                <a:tc>
                  <a:txBody>
                    <a:bodyPr/>
                    <a:lstStyle/>
                    <a:p>
                      <a:pPr indent="0" marL="0">
                        <a:buNone/>
                      </a:pPr>
                      <a:r>
                        <a:rPr lang="en-US" sz="1600" b="1" dirty="0">
                          <a:solidFill>
                            <a:schemeClr val="bg1"/>
                          </a:solidFill>
                        </a:rPr>
                        <a:t>Area</a:t>
                      </a:r>
                      <a:endParaRPr lang="en-US" sz="1600" dirty="0"/>
                    </a:p>
                  </a:txBody>
                  <a:tcPr marL="137160" marR="137160" marT="73152" marB="73152">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Today</a:t>
                      </a:r>
                      <a:endParaRPr lang="en-US" sz="1600" dirty="0"/>
                    </a:p>
                  </a:txBody>
                  <a:tcPr marL="137160" marR="137160" marT="73152" marB="73152">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Proposed</a:t>
                      </a:r>
                      <a:endParaRPr lang="en-US" sz="1600" dirty="0"/>
                    </a:p>
                  </a:txBody>
                  <a:tcPr marL="137160" marR="137160" marT="73152" marB="73152">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What improves</a:t>
                      </a:r>
                      <a:endParaRPr lang="en-US" sz="1600" dirty="0"/>
                    </a:p>
                  </a:txBody>
                  <a:tcPr marL="137160" marR="137160" marT="73152" marB="73152">
                    <a:lnL w="0" cap="flat" cmpd="sng" algn="ctr">
                      <a:noFill/>
                    </a:lnL>
                    <a:lnR w="0" cap="flat" cmpd="sng" algn="ctr">
                      <a:noFill/>
                    </a:lnR>
                    <a:lnT w="0" cap="flat" cmpd="sng" algn="ctr">
                      <a:noFill/>
                    </a:lnT>
                    <a:lnB w="0" cap="flat" cmpd="sng" algn="ctr">
                      <a:noFill/>
                    </a:lnB>
                    <a:solidFill>
                      <a:schemeClr val="tx2"/>
                    </a:solidFill>
                  </a:tcPr>
                </a:tc>
              </a:tr>
              <a:tr h="1005840">
                <a:tc>
                  <a:txBody>
                    <a:bodyPr/>
                    <a:lstStyle/>
                    <a:p>
                      <a:pPr indent="0" marL="0">
                        <a:buNone/>
                      </a:pPr>
                      <a:r>
                        <a:rPr lang="en-US" sz="1600" b="1" dirty="0">
                          <a:solidFill>
                            <a:schemeClr val="accent1"/>
                          </a:solidFill>
                        </a:rPr>
                        <a:t>Add-ons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Upgraded cluster by cluster</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Argo CD ApplicationSets from Git</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One change, staged rollout, easy rollback</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1005840">
                <a:tc>
                  <a:txBody>
                    <a:bodyPr/>
                    <a:lstStyle/>
                    <a:p>
                      <a:pPr indent="0" marL="0">
                        <a:buNone/>
                      </a:pPr>
                      <a:r>
                        <a:rPr lang="en-US" sz="1600" b="1" dirty="0">
                          <a:solidFill>
                            <a:schemeClr val="accent1"/>
                          </a:solidFill>
                        </a:rPr>
                        <a:t>Pod networking</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VPC CNI, a VPC IP per pod</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Cilium cluster-pool IPAM</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VPC IPs used by nodes only</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r h="1005840">
                <a:tc>
                  <a:txBody>
                    <a:bodyPr/>
                    <a:lstStyle/>
                    <a:p>
                      <a:pPr indent="0" marL="0">
                        <a:buNone/>
                      </a:pPr>
                      <a:r>
                        <a:rPr lang="en-US" sz="1600" b="1" dirty="0">
                          <a:solidFill>
                            <a:schemeClr val="accent1"/>
                          </a:solidFill>
                        </a:rPr>
                        <a:t>Cross-cluster</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No shared service layer</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Cilium Cluster Mesh</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600" dirty="0">
                          <a:solidFill>
                            <a:schemeClr val="tx1"/>
                          </a:solidFill>
                        </a:rPr>
                        <a:t>Discovery, failover and policy across clusters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1005840">
                <a:tc>
                  <a:txBody>
                    <a:bodyPr/>
                    <a:lstStyle/>
                    <a:p>
                      <a:pPr indent="0" marL="0">
                        <a:buNone/>
                      </a:pPr>
                      <a:r>
                        <a:rPr lang="en-US" sz="1600" b="1" dirty="0">
                          <a:solidFill>
                            <a:schemeClr val="accent1"/>
                          </a:solidFill>
                        </a:rPr>
                        <a:t>Nodes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Brupop, fixed instance types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Karpenter NodePools</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600" dirty="0">
                          <a:solidFill>
                            <a:schemeClr val="tx1"/>
                          </a:solidFill>
                        </a:rPr>
                        <a:t>Instance fits the workload; nodes replaced on AMI drift</a:t>
                      </a:r>
                      <a:endParaRPr lang="en-US" sz="16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Watch-outs before we commit</a:t>
            </a:r>
            <a:endParaRPr lang="en-US" sz="3600" dirty="0"/>
          </a:p>
        </p:txBody>
      </p:sp>
      <p:sp>
        <p:nvSpPr>
          <p:cNvPr id="3" name="Warning 1 circle"/>
          <p:cNvSpPr/>
          <p:nvPr/>
        </p:nvSpPr>
        <p:spPr>
          <a:xfrm>
            <a:off x="548640" y="1554480"/>
            <a:ext cx="594360" cy="594360"/>
          </a:xfrm>
          <a:prstGeom prst="ellipse">
            <a:avLst/>
          </a:prstGeom>
          <a:solidFill>
            <a:schemeClr val="accent2"/>
          </a:solidFill>
          <a:ln/>
        </p:spPr>
      </p:sp>
      <p:pic>
        <p:nvPicPr>
          <p:cNvPr id="4" name="Warning 1 icon" descr="Warning 1">    </p:cNvPr>
          <p:cNvPicPr>
            <a:picLocks noChangeAspect="1"/>
          </p:cNvPicPr>
          <p:nvPr/>
        </p:nvPicPr>
        <p:blipFill>
          <a:blip r:embed="rId1"/>
          <a:stretch>
            <a:fillRect/>
          </a:stretch>
        </p:blipFill>
        <p:spPr>
          <a:xfrm>
            <a:off x="697230" y="1703070"/>
            <a:ext cx="297180" cy="297180"/>
          </a:xfrm>
          <a:prstGeom prst="rect">
            <a:avLst/>
          </a:prstGeom>
        </p:spPr>
      </p:pic>
      <p:sp>
        <p:nvSpPr>
          <p:cNvPr id="5" name="Text 2"/>
          <p:cNvSpPr txBox="1"/>
          <p:nvPr/>
        </p:nvSpPr>
        <p:spPr>
          <a:xfrm>
            <a:off x="1417320" y="1463040"/>
            <a:ext cx="10149840" cy="777240"/>
          </a:xfrm>
          <a:prstGeom prst="rect">
            <a:avLst/>
          </a:prstGeom>
          <a:noFill/>
          <a:ln/>
        </p:spPr>
        <p:txBody>
          <a:bodyPr wrap="square" lIns="0" tIns="0" rIns="0" bIns="0" rtlCol="0" anchor="ctr"/>
          <a:lstStyle/>
          <a:p>
            <a:pPr indent="0" marL="0">
              <a:buNone/>
            </a:pPr>
            <a:r>
              <a:rPr lang="en-US" sz="2000" b="1" dirty="0">
                <a:solidFill>
                  <a:schemeClr val="tx2"/>
                </a:solidFill>
              </a:rPr>
              <a:t>Overlay pods are not routable from the VPC</a:t>
            </a:r>
            <a:endParaRPr lang="en-US" sz="2000" dirty="0"/>
          </a:p>
          <a:p>
            <a:pPr indent="0" marL="0">
              <a:buNone/>
            </a:pPr>
            <a:r>
              <a:rPr lang="en-US" sz="1600" dirty="0">
                <a:solidFill>
                  <a:schemeClr val="tx1"/>
                </a:solidFill>
              </a:rPr>
              <a:t>The EKS control plane cannot reach webhooks on pod IPs, so run them on hostNetwork.</a:t>
            </a:r>
            <a:endParaRPr lang="en-US" sz="2000" dirty="0"/>
          </a:p>
        </p:txBody>
      </p:sp>
      <p:sp>
        <p:nvSpPr>
          <p:cNvPr id="6" name="Warning 2 circle"/>
          <p:cNvSpPr/>
          <p:nvPr/>
        </p:nvSpPr>
        <p:spPr>
          <a:xfrm>
            <a:off x="548640" y="2487168"/>
            <a:ext cx="594360" cy="594360"/>
          </a:xfrm>
          <a:prstGeom prst="ellipse">
            <a:avLst/>
          </a:prstGeom>
          <a:solidFill>
            <a:schemeClr val="accent2"/>
          </a:solidFill>
          <a:ln/>
        </p:spPr>
      </p:sp>
      <p:pic>
        <p:nvPicPr>
          <p:cNvPr id="7" name="Warning 2 icon" descr="Warning 2">    </p:cNvPr>
          <p:cNvPicPr>
            <a:picLocks noChangeAspect="1"/>
          </p:cNvPicPr>
          <p:nvPr/>
        </p:nvPicPr>
        <p:blipFill>
          <a:blip r:embed="rId2"/>
          <a:stretch>
            <a:fillRect/>
          </a:stretch>
        </p:blipFill>
        <p:spPr>
          <a:xfrm>
            <a:off x="697230" y="2635758"/>
            <a:ext cx="297180" cy="297180"/>
          </a:xfrm>
          <a:prstGeom prst="rect">
            <a:avLst/>
          </a:prstGeom>
        </p:spPr>
      </p:pic>
      <p:sp>
        <p:nvSpPr>
          <p:cNvPr id="8" name="Text 4"/>
          <p:cNvSpPr txBox="1"/>
          <p:nvPr/>
        </p:nvSpPr>
        <p:spPr>
          <a:xfrm>
            <a:off x="1417320" y="2395728"/>
            <a:ext cx="10149840" cy="777240"/>
          </a:xfrm>
          <a:prstGeom prst="rect">
            <a:avLst/>
          </a:prstGeom>
          <a:noFill/>
          <a:ln/>
        </p:spPr>
        <p:txBody>
          <a:bodyPr wrap="square" lIns="0" tIns="0" rIns="0" bIns="0" rtlCol="0" anchor="ctr"/>
          <a:lstStyle/>
          <a:p>
            <a:pPr indent="0" marL="0">
              <a:buNone/>
            </a:pPr>
            <a:r>
              <a:rPr lang="en-US" sz="2000" b="1" dirty="0">
                <a:solidFill>
                  <a:schemeClr val="tx2"/>
                </a:solidFill>
              </a:rPr>
              <a:t>Cilium is a third-party CNI</a:t>
            </a:r>
            <a:endParaRPr lang="en-US" sz="2000" dirty="0"/>
          </a:p>
          <a:p>
            <a:pPr indent="0" marL="0">
              <a:buNone/>
            </a:pPr>
            <a:r>
              <a:rPr lang="en-US" sz="1600" dirty="0">
                <a:solidFill>
                  <a:schemeClr val="tx1"/>
                </a:solidFill>
              </a:rPr>
              <a:t>It is not an AWS-managed add-on, so we own its upgrades. GitOps helps here.</a:t>
            </a:r>
            <a:endParaRPr lang="en-US" sz="2000" dirty="0"/>
          </a:p>
        </p:txBody>
      </p:sp>
      <p:sp>
        <p:nvSpPr>
          <p:cNvPr id="9" name="Warning 3 circle"/>
          <p:cNvSpPr/>
          <p:nvPr/>
        </p:nvSpPr>
        <p:spPr>
          <a:xfrm>
            <a:off x="548640" y="3419856"/>
            <a:ext cx="594360" cy="594360"/>
          </a:xfrm>
          <a:prstGeom prst="ellipse">
            <a:avLst/>
          </a:prstGeom>
          <a:solidFill>
            <a:schemeClr val="accent2"/>
          </a:solidFill>
          <a:ln/>
        </p:spPr>
      </p:sp>
      <p:pic>
        <p:nvPicPr>
          <p:cNvPr id="10" name="Warning 3 icon" descr="Warning 3">    </p:cNvPr>
          <p:cNvPicPr>
            <a:picLocks noChangeAspect="1"/>
          </p:cNvPicPr>
          <p:nvPr/>
        </p:nvPicPr>
        <p:blipFill>
          <a:blip r:embed="rId3"/>
          <a:stretch>
            <a:fillRect/>
          </a:stretch>
        </p:blipFill>
        <p:spPr>
          <a:xfrm>
            <a:off x="697230" y="3568446"/>
            <a:ext cx="297180" cy="297180"/>
          </a:xfrm>
          <a:prstGeom prst="rect">
            <a:avLst/>
          </a:prstGeom>
        </p:spPr>
      </p:pic>
      <p:sp>
        <p:nvSpPr>
          <p:cNvPr id="11" name="Text 6"/>
          <p:cNvSpPr txBox="1"/>
          <p:nvPr/>
        </p:nvSpPr>
        <p:spPr>
          <a:xfrm>
            <a:off x="1417320" y="3328416"/>
            <a:ext cx="10149840" cy="777240"/>
          </a:xfrm>
          <a:prstGeom prst="rect">
            <a:avLst/>
          </a:prstGeom>
          <a:noFill/>
          <a:ln/>
        </p:spPr>
        <p:txBody>
          <a:bodyPr wrap="square" lIns="0" tIns="0" rIns="0" bIns="0" rtlCol="0" anchor="ctr"/>
          <a:lstStyle/>
          <a:p>
            <a:pPr indent="0" marL="0">
              <a:buNone/>
            </a:pPr>
            <a:r>
              <a:rPr lang="en-US" sz="2000" b="1" dirty="0">
                <a:solidFill>
                  <a:schemeClr val="tx2"/>
                </a:solidFill>
              </a:rPr>
              <a:t>Cluster Mesh needs planning up front</a:t>
            </a:r>
            <a:endParaRPr lang="en-US" sz="2000" dirty="0"/>
          </a:p>
          <a:p>
            <a:pPr indent="0" marL="0">
              <a:buNone/>
            </a:pPr>
            <a:r>
              <a:rPr lang="en-US" sz="1600" dirty="0">
                <a:solidFill>
                  <a:schemeClr val="tx1"/>
                </a:solidFill>
              </a:rPr>
              <a:t>Unique cluster IDs, non-overlapping pod CIDRs, and a network path between accounts.</a:t>
            </a:r>
            <a:endParaRPr lang="en-US" sz="2000" dirty="0"/>
          </a:p>
        </p:txBody>
      </p:sp>
      <p:sp>
        <p:nvSpPr>
          <p:cNvPr id="12" name="Warning 4 circle"/>
          <p:cNvSpPr/>
          <p:nvPr/>
        </p:nvSpPr>
        <p:spPr>
          <a:xfrm>
            <a:off x="548640" y="4352544"/>
            <a:ext cx="594360" cy="594360"/>
          </a:xfrm>
          <a:prstGeom prst="ellipse">
            <a:avLst/>
          </a:prstGeom>
          <a:solidFill>
            <a:schemeClr val="accent2"/>
          </a:solidFill>
          <a:ln/>
        </p:spPr>
      </p:sp>
      <p:pic>
        <p:nvPicPr>
          <p:cNvPr id="13" name="Warning 4 icon" descr="Warning 4">    </p:cNvPr>
          <p:cNvPicPr>
            <a:picLocks noChangeAspect="1"/>
          </p:cNvPicPr>
          <p:nvPr/>
        </p:nvPicPr>
        <p:blipFill>
          <a:blip r:embed="rId4"/>
          <a:stretch>
            <a:fillRect/>
          </a:stretch>
        </p:blipFill>
        <p:spPr>
          <a:xfrm>
            <a:off x="697230" y="4501134"/>
            <a:ext cx="297180" cy="297180"/>
          </a:xfrm>
          <a:prstGeom prst="rect">
            <a:avLst/>
          </a:prstGeom>
        </p:spPr>
      </p:pic>
      <p:sp>
        <p:nvSpPr>
          <p:cNvPr id="14" name="Text 8"/>
          <p:cNvSpPr txBox="1"/>
          <p:nvPr/>
        </p:nvSpPr>
        <p:spPr>
          <a:xfrm>
            <a:off x="1417320" y="4261104"/>
            <a:ext cx="10149840" cy="777240"/>
          </a:xfrm>
          <a:prstGeom prst="rect">
            <a:avLst/>
          </a:prstGeom>
          <a:noFill/>
          <a:ln/>
        </p:spPr>
        <p:txBody>
          <a:bodyPr wrap="square" lIns="0" tIns="0" rIns="0" bIns="0" rtlCol="0" anchor="ctr"/>
          <a:lstStyle/>
          <a:p>
            <a:pPr indent="0" marL="0">
              <a:buNone/>
            </a:pPr>
            <a:r>
              <a:rPr lang="en-US" sz="2000" b="1" dirty="0">
                <a:solidFill>
                  <a:schemeClr val="tx2"/>
                </a:solidFill>
              </a:rPr>
              <a:t>Karpenter replaces nodes</a:t>
            </a:r>
            <a:endParaRPr lang="en-US" sz="2000" dirty="0"/>
          </a:p>
          <a:p>
            <a:pPr indent="0" marL="0">
              <a:buNone/>
            </a:pPr>
            <a:r>
              <a:rPr lang="en-US" sz="1600" dirty="0">
                <a:solidFill>
                  <a:schemeClr val="tx1"/>
                </a:solidFill>
              </a:rPr>
              <a:t>Workloads need PodDisruptionBudgets and graceful shutdown. The controller runs off Karpenter-managed nodes.</a:t>
            </a:r>
            <a:endParaRPr lang="en-US" sz="2000" dirty="0"/>
          </a:p>
        </p:txBody>
      </p:sp>
      <p:sp>
        <p:nvSpPr>
          <p:cNvPr id="15" name="Warning 5 circle"/>
          <p:cNvSpPr/>
          <p:nvPr/>
        </p:nvSpPr>
        <p:spPr>
          <a:xfrm>
            <a:off x="548640" y="5285232"/>
            <a:ext cx="594360" cy="594360"/>
          </a:xfrm>
          <a:prstGeom prst="ellipse">
            <a:avLst/>
          </a:prstGeom>
          <a:solidFill>
            <a:schemeClr val="accent2"/>
          </a:solidFill>
          <a:ln/>
        </p:spPr>
      </p:sp>
      <p:pic>
        <p:nvPicPr>
          <p:cNvPr id="16" name="Warning 5 icon" descr="Warning 5">    </p:cNvPr>
          <p:cNvPicPr>
            <a:picLocks noChangeAspect="1"/>
          </p:cNvPicPr>
          <p:nvPr/>
        </p:nvPicPr>
        <p:blipFill>
          <a:blip r:embed="rId5"/>
          <a:stretch>
            <a:fillRect/>
          </a:stretch>
        </p:blipFill>
        <p:spPr>
          <a:xfrm>
            <a:off x="697230" y="5433822"/>
            <a:ext cx="297180" cy="297180"/>
          </a:xfrm>
          <a:prstGeom prst="rect">
            <a:avLst/>
          </a:prstGeom>
        </p:spPr>
      </p:pic>
      <p:sp>
        <p:nvSpPr>
          <p:cNvPr id="17" name="Text 10"/>
          <p:cNvSpPr txBox="1"/>
          <p:nvPr/>
        </p:nvSpPr>
        <p:spPr>
          <a:xfrm>
            <a:off x="1417320" y="5193792"/>
            <a:ext cx="10149840" cy="777240"/>
          </a:xfrm>
          <a:prstGeom prst="rect">
            <a:avLst/>
          </a:prstGeom>
          <a:noFill/>
          <a:ln/>
        </p:spPr>
        <p:txBody>
          <a:bodyPr wrap="square" lIns="0" tIns="0" rIns="0" bIns="0" rtlCol="0" anchor="ctr"/>
          <a:lstStyle/>
          <a:p>
            <a:pPr indent="0" marL="0">
              <a:buNone/>
            </a:pPr>
            <a:r>
              <a:rPr lang="en-US" sz="2000" b="1" dirty="0">
                <a:solidFill>
                  <a:schemeClr val="tx2"/>
                </a:solidFill>
              </a:rPr>
              <a:t>Node roles need access entries</a:t>
            </a:r>
            <a:endParaRPr lang="en-US" sz="2000" dirty="0"/>
          </a:p>
          <a:p>
            <a:pPr indent="0" marL="0">
              <a:buNone/>
            </a:pPr>
            <a:r>
              <a:rPr lang="en-US" sz="1600" dirty="0">
                <a:solidFill>
                  <a:schemeClr val="tx1"/>
                </a:solidFill>
              </a:rPr>
              <a:t>Karpenter nodes join through an EC2_LINUX access entry on their node role.</a:t>
            </a:r>
            <a:endParaRPr lang="en-US" sz="2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Suggested order of rollout</a:t>
            </a:r>
            <a:endParaRPr lang="en-US" sz="3600" dirty="0"/>
          </a:p>
        </p:txBody>
      </p:sp>
      <p:sp>
        <p:nvSpPr>
          <p:cNvPr id="3" name="Step 1"/>
          <p:cNvSpPr/>
          <p:nvPr/>
        </p:nvSpPr>
        <p:spPr>
          <a:xfrm>
            <a:off x="548640" y="2103120"/>
            <a:ext cx="822960" cy="822960"/>
          </a:xfrm>
          <a:prstGeom prst="ellipse">
            <a:avLst/>
          </a:prstGeom>
          <a:solidFill>
            <a:schemeClr val="accent2"/>
          </a:solidFill>
          <a:ln/>
        </p:spPr>
      </p:sp>
      <p:sp>
        <p:nvSpPr>
          <p:cNvPr id="4" name="Text 2"/>
          <p:cNvSpPr txBox="1"/>
          <p:nvPr/>
        </p:nvSpPr>
        <p:spPr>
          <a:xfrm>
            <a:off x="548640" y="2103120"/>
            <a:ext cx="822960" cy="822960"/>
          </a:xfrm>
          <a:prstGeom prst="rect">
            <a:avLst/>
          </a:prstGeom>
          <a:noFill/>
          <a:ln/>
        </p:spPr>
        <p:txBody>
          <a:bodyPr wrap="square" lIns="0" tIns="0" rIns="0" bIns="0" rtlCol="0" anchor="ctr"/>
          <a:lstStyle/>
          <a:p>
            <a:pPr algn="ctr" indent="0" marL="0">
              <a:buNone/>
            </a:pPr>
            <a:r>
              <a:rPr lang="en-US" sz="2800" b="1" dirty="0">
                <a:solidFill>
                  <a:schemeClr val="tx2"/>
                </a:solidFill>
              </a:rPr>
              <a:t>1</a:t>
            </a:r>
            <a:endParaRPr lang="en-US" sz="2800" dirty="0"/>
          </a:p>
        </p:txBody>
      </p:sp>
      <p:sp>
        <p:nvSpPr>
          <p:cNvPr id="5" name="Text 3"/>
          <p:cNvSpPr txBox="1"/>
          <p:nvPr/>
        </p:nvSpPr>
        <p:spPr>
          <a:xfrm>
            <a:off x="548640" y="3246120"/>
            <a:ext cx="2560320" cy="914400"/>
          </a:xfrm>
          <a:prstGeom prst="rect">
            <a:avLst/>
          </a:prstGeom>
          <a:noFill/>
          <a:ln/>
        </p:spPr>
        <p:txBody>
          <a:bodyPr wrap="square" lIns="0" tIns="0" rIns="0" bIns="0" rtlCol="0" anchor="t"/>
          <a:lstStyle/>
          <a:p>
            <a:pPr indent="0" marL="0">
              <a:buNone/>
            </a:pPr>
            <a:r>
              <a:rPr lang="en-US" sz="2200" b="1" dirty="0">
                <a:solidFill>
                  <a:schemeClr val="bg1"/>
                </a:solidFill>
              </a:rPr>
              <a:t>GitOps for every add-on</a:t>
            </a:r>
            <a:endParaRPr lang="en-US" sz="2200" dirty="0"/>
          </a:p>
        </p:txBody>
      </p:sp>
      <p:sp>
        <p:nvSpPr>
          <p:cNvPr id="6" name="Text 4"/>
          <p:cNvSpPr txBox="1"/>
          <p:nvPr/>
        </p:nvSpPr>
        <p:spPr>
          <a:xfrm>
            <a:off x="548640" y="4297680"/>
            <a:ext cx="2560320" cy="1188720"/>
          </a:xfrm>
          <a:prstGeom prst="rect">
            <a:avLst/>
          </a:prstGeom>
          <a:noFill/>
          <a:ln/>
        </p:spPr>
        <p:txBody>
          <a:bodyPr wrap="square" lIns="0" tIns="0" rIns="0" bIns="0" rtlCol="0" anchor="t"/>
          <a:lstStyle/>
          <a:p>
            <a:pPr indent="0" marL="0">
              <a:buNone/>
            </a:pPr>
            <a:r>
              <a:rPr lang="en-US" sz="1800" dirty="0">
                <a:solidFill>
                  <a:schemeClr val="accent4"/>
                </a:solidFill>
              </a:rPr>
              <a:t>Everything else ships through it.</a:t>
            </a:r>
            <a:endParaRPr lang="en-US" sz="1800" dirty="0"/>
          </a:p>
        </p:txBody>
      </p:sp>
      <p:sp>
        <p:nvSpPr>
          <p:cNvPr id="7" name="Step 2"/>
          <p:cNvSpPr/>
          <p:nvPr/>
        </p:nvSpPr>
        <p:spPr>
          <a:xfrm>
            <a:off x="3364992" y="2103120"/>
            <a:ext cx="822960" cy="822960"/>
          </a:xfrm>
          <a:prstGeom prst="ellipse">
            <a:avLst/>
          </a:prstGeom>
          <a:solidFill>
            <a:schemeClr val="accent2"/>
          </a:solidFill>
          <a:ln/>
        </p:spPr>
      </p:sp>
      <p:sp>
        <p:nvSpPr>
          <p:cNvPr id="8" name="Text 6"/>
          <p:cNvSpPr txBox="1"/>
          <p:nvPr/>
        </p:nvSpPr>
        <p:spPr>
          <a:xfrm>
            <a:off x="3364992" y="2103120"/>
            <a:ext cx="822960" cy="822960"/>
          </a:xfrm>
          <a:prstGeom prst="rect">
            <a:avLst/>
          </a:prstGeom>
          <a:noFill/>
          <a:ln/>
        </p:spPr>
        <p:txBody>
          <a:bodyPr wrap="square" lIns="0" tIns="0" rIns="0" bIns="0" rtlCol="0" anchor="ctr"/>
          <a:lstStyle/>
          <a:p>
            <a:pPr algn="ctr" indent="0" marL="0">
              <a:buNone/>
            </a:pPr>
            <a:r>
              <a:rPr lang="en-US" sz="2800" b="1" dirty="0">
                <a:solidFill>
                  <a:schemeClr val="tx2"/>
                </a:solidFill>
              </a:rPr>
              <a:t>2</a:t>
            </a:r>
            <a:endParaRPr lang="en-US" sz="2800" dirty="0"/>
          </a:p>
        </p:txBody>
      </p:sp>
      <p:sp>
        <p:nvSpPr>
          <p:cNvPr id="9" name="Text 7"/>
          <p:cNvSpPr txBox="1"/>
          <p:nvPr/>
        </p:nvSpPr>
        <p:spPr>
          <a:xfrm>
            <a:off x="3364992" y="3246120"/>
            <a:ext cx="2560320" cy="914400"/>
          </a:xfrm>
          <a:prstGeom prst="rect">
            <a:avLst/>
          </a:prstGeom>
          <a:noFill/>
          <a:ln/>
        </p:spPr>
        <p:txBody>
          <a:bodyPr wrap="square" lIns="0" tIns="0" rIns="0" bIns="0" rtlCol="0" anchor="t"/>
          <a:lstStyle/>
          <a:p>
            <a:pPr indent="0" marL="0">
              <a:buNone/>
            </a:pPr>
            <a:r>
              <a:rPr lang="en-US" sz="2200" b="1" dirty="0">
                <a:solidFill>
                  <a:schemeClr val="bg1"/>
                </a:solidFill>
              </a:rPr>
              <a:t>Cilium on new clusters</a:t>
            </a:r>
            <a:endParaRPr lang="en-US" sz="2200" dirty="0"/>
          </a:p>
        </p:txBody>
      </p:sp>
      <p:sp>
        <p:nvSpPr>
          <p:cNvPr id="10" name="Text 8"/>
          <p:cNvSpPr txBox="1"/>
          <p:nvPr/>
        </p:nvSpPr>
        <p:spPr>
          <a:xfrm>
            <a:off x="3364992" y="4297680"/>
            <a:ext cx="2560320" cy="1188720"/>
          </a:xfrm>
          <a:prstGeom prst="rect">
            <a:avLst/>
          </a:prstGeom>
          <a:noFill/>
          <a:ln/>
        </p:spPr>
        <p:txBody>
          <a:bodyPr wrap="square" lIns="0" tIns="0" rIns="0" bIns="0" rtlCol="0" anchor="t"/>
          <a:lstStyle/>
          <a:p>
            <a:pPr indent="0" marL="0">
              <a:buNone/>
            </a:pPr>
            <a:r>
              <a:rPr lang="en-US" sz="1800" dirty="0">
                <a:solidFill>
                  <a:schemeClr val="accent4"/>
                </a:solidFill>
              </a:rPr>
              <a:t>Pick pod CIDRs with Cluster Mesh in mind.</a:t>
            </a:r>
            <a:endParaRPr lang="en-US" sz="1800" dirty="0"/>
          </a:p>
        </p:txBody>
      </p:sp>
      <p:sp>
        <p:nvSpPr>
          <p:cNvPr id="11" name="Step 3"/>
          <p:cNvSpPr/>
          <p:nvPr/>
        </p:nvSpPr>
        <p:spPr>
          <a:xfrm>
            <a:off x="6181344" y="2103120"/>
            <a:ext cx="822960" cy="822960"/>
          </a:xfrm>
          <a:prstGeom prst="ellipse">
            <a:avLst/>
          </a:prstGeom>
          <a:solidFill>
            <a:schemeClr val="accent2"/>
          </a:solidFill>
          <a:ln/>
        </p:spPr>
      </p:sp>
      <p:sp>
        <p:nvSpPr>
          <p:cNvPr id="12" name="Text 10"/>
          <p:cNvSpPr txBox="1"/>
          <p:nvPr/>
        </p:nvSpPr>
        <p:spPr>
          <a:xfrm>
            <a:off x="6181344" y="2103120"/>
            <a:ext cx="822960" cy="822960"/>
          </a:xfrm>
          <a:prstGeom prst="rect">
            <a:avLst/>
          </a:prstGeom>
          <a:noFill/>
          <a:ln/>
        </p:spPr>
        <p:txBody>
          <a:bodyPr wrap="square" lIns="0" tIns="0" rIns="0" bIns="0" rtlCol="0" anchor="ctr"/>
          <a:lstStyle/>
          <a:p>
            <a:pPr algn="ctr" indent="0" marL="0">
              <a:buNone/>
            </a:pPr>
            <a:r>
              <a:rPr lang="en-US" sz="2800" b="1" dirty="0">
                <a:solidFill>
                  <a:schemeClr val="tx2"/>
                </a:solidFill>
              </a:rPr>
              <a:t>3</a:t>
            </a:r>
            <a:endParaRPr lang="en-US" sz="2800" dirty="0"/>
          </a:p>
        </p:txBody>
      </p:sp>
      <p:sp>
        <p:nvSpPr>
          <p:cNvPr id="13" name="Text 11"/>
          <p:cNvSpPr txBox="1"/>
          <p:nvPr/>
        </p:nvSpPr>
        <p:spPr>
          <a:xfrm>
            <a:off x="6181344" y="3246120"/>
            <a:ext cx="2560320" cy="914400"/>
          </a:xfrm>
          <a:prstGeom prst="rect">
            <a:avLst/>
          </a:prstGeom>
          <a:noFill/>
          <a:ln/>
        </p:spPr>
        <p:txBody>
          <a:bodyPr wrap="square" lIns="0" tIns="0" rIns="0" bIns="0" rtlCol="0" anchor="t"/>
          <a:lstStyle/>
          <a:p>
            <a:pPr indent="0" marL="0">
              <a:buNone/>
            </a:pPr>
            <a:r>
              <a:rPr lang="en-US" sz="2200" b="1" dirty="0">
                <a:solidFill>
                  <a:schemeClr val="bg1"/>
                </a:solidFill>
              </a:rPr>
              <a:t>Karpenter on a pilot</a:t>
            </a:r>
            <a:endParaRPr lang="en-US" sz="2200" dirty="0"/>
          </a:p>
        </p:txBody>
      </p:sp>
      <p:sp>
        <p:nvSpPr>
          <p:cNvPr id="14" name="Text 12"/>
          <p:cNvSpPr txBox="1"/>
          <p:nvPr/>
        </p:nvSpPr>
        <p:spPr>
          <a:xfrm>
            <a:off x="6181344" y="4297680"/>
            <a:ext cx="2560320" cy="1188720"/>
          </a:xfrm>
          <a:prstGeom prst="rect">
            <a:avLst/>
          </a:prstGeom>
          <a:noFill/>
          <a:ln/>
        </p:spPr>
        <p:txBody>
          <a:bodyPr wrap="square" lIns="0" tIns="0" rIns="0" bIns="0" rtlCol="0" anchor="t"/>
          <a:lstStyle/>
          <a:p>
            <a:pPr indent="0" marL="0">
              <a:buNone/>
            </a:pPr>
            <a:r>
              <a:rPr lang="en-US" sz="1800" dirty="0">
                <a:solidFill>
                  <a:schemeClr val="accent4"/>
                </a:solidFill>
              </a:rPr>
              <a:t>Then retire Brupop.</a:t>
            </a:r>
            <a:endParaRPr lang="en-US" sz="1800" dirty="0"/>
          </a:p>
        </p:txBody>
      </p:sp>
      <p:sp>
        <p:nvSpPr>
          <p:cNvPr id="15" name="Step 4"/>
          <p:cNvSpPr/>
          <p:nvPr/>
        </p:nvSpPr>
        <p:spPr>
          <a:xfrm>
            <a:off x="8997696" y="2103120"/>
            <a:ext cx="822960" cy="822960"/>
          </a:xfrm>
          <a:prstGeom prst="ellipse">
            <a:avLst/>
          </a:prstGeom>
          <a:solidFill>
            <a:schemeClr val="accent2"/>
          </a:solidFill>
          <a:ln/>
        </p:spPr>
      </p:sp>
      <p:sp>
        <p:nvSpPr>
          <p:cNvPr id="16" name="Text 14"/>
          <p:cNvSpPr txBox="1"/>
          <p:nvPr/>
        </p:nvSpPr>
        <p:spPr>
          <a:xfrm>
            <a:off x="8997696" y="2103120"/>
            <a:ext cx="822960" cy="822960"/>
          </a:xfrm>
          <a:prstGeom prst="rect">
            <a:avLst/>
          </a:prstGeom>
          <a:noFill/>
          <a:ln/>
        </p:spPr>
        <p:txBody>
          <a:bodyPr wrap="square" lIns="0" tIns="0" rIns="0" bIns="0" rtlCol="0" anchor="ctr"/>
          <a:lstStyle/>
          <a:p>
            <a:pPr algn="ctr" indent="0" marL="0">
              <a:buNone/>
            </a:pPr>
            <a:r>
              <a:rPr lang="en-US" sz="2800" b="1" dirty="0">
                <a:solidFill>
                  <a:schemeClr val="tx2"/>
                </a:solidFill>
              </a:rPr>
              <a:t>4</a:t>
            </a:r>
            <a:endParaRPr lang="en-US" sz="2800" dirty="0"/>
          </a:p>
        </p:txBody>
      </p:sp>
      <p:sp>
        <p:nvSpPr>
          <p:cNvPr id="17" name="Text 15"/>
          <p:cNvSpPr txBox="1"/>
          <p:nvPr/>
        </p:nvSpPr>
        <p:spPr>
          <a:xfrm>
            <a:off x="8997696" y="3246120"/>
            <a:ext cx="2560320" cy="914400"/>
          </a:xfrm>
          <a:prstGeom prst="rect">
            <a:avLst/>
          </a:prstGeom>
          <a:noFill/>
          <a:ln/>
        </p:spPr>
        <p:txBody>
          <a:bodyPr wrap="square" lIns="0" tIns="0" rIns="0" bIns="0" rtlCol="0" anchor="t"/>
          <a:lstStyle/>
          <a:p>
            <a:pPr indent="0" marL="0">
              <a:buNone/>
            </a:pPr>
            <a:r>
              <a:rPr lang="en-US" sz="2200" b="1" dirty="0">
                <a:solidFill>
                  <a:schemeClr val="bg1"/>
                </a:solidFill>
              </a:rPr>
              <a:t>Mesh the clusters that need it</a:t>
            </a:r>
            <a:endParaRPr lang="en-US" sz="2200" dirty="0"/>
          </a:p>
        </p:txBody>
      </p:sp>
      <p:sp>
        <p:nvSpPr>
          <p:cNvPr id="18" name="Text 16"/>
          <p:cNvSpPr txBox="1"/>
          <p:nvPr/>
        </p:nvSpPr>
        <p:spPr>
          <a:xfrm>
            <a:off x="8997696" y="4297680"/>
            <a:ext cx="2560320" cy="1188720"/>
          </a:xfrm>
          <a:prstGeom prst="rect">
            <a:avLst/>
          </a:prstGeom>
          <a:noFill/>
          <a:ln/>
        </p:spPr>
        <p:txBody>
          <a:bodyPr wrap="square" lIns="0" tIns="0" rIns="0" bIns="0" rtlCol="0" anchor="t"/>
          <a:lstStyle/>
          <a:p>
            <a:pPr indent="0" marL="0">
              <a:buNone/>
            </a:pPr>
            <a:r>
              <a:rPr lang="en-US" sz="1800" dirty="0">
                <a:solidFill>
                  <a:schemeClr val="accent4"/>
                </a:solidFill>
              </a:rPr>
              <a:t>Once CIDRs and network paths are in place.</a:t>
            </a:r>
            <a:endParaRPr lang="en-US" sz="1800" dirty="0"/>
          </a:p>
        </p:txBody>
      </p:sp>
    </p:spTree>
  </p:cSld>
  <p:clrMapOvr>
    <a:masterClrMapping/>
  </p:clrMapOvr>
</p:sld>
</file>

<file path=ppt/theme/theme1.xml><?xml version="1.0" encoding="utf-8"?>
<a:theme xmlns:a="http://schemas.openxmlformats.org/drawingml/2006/main" name="EKS Retro">
  <a:themeElements>
    <a:clrScheme name="EKS Retro">
      <a:dk1>
        <a:srgbClr val="1B2A33"/>
      </a:dk1>
      <a:lt1>
        <a:srgbClr val="FFFFFF"/>
      </a:lt1>
      <a:dk2>
        <a:srgbClr val="0B1F2A"/>
      </a:dk2>
      <a:lt2>
        <a:srgbClr val="EEF3F5"/>
      </a:lt2>
      <a:accent1>
        <a:srgbClr val="0E7C86"/>
      </a:accent1>
      <a:accent2>
        <a:srgbClr val="F2A33A"/>
      </a:accent2>
      <a:accent3>
        <a:srgbClr val="2F6F8F"/>
      </a:accent3>
      <a:accent4>
        <a:srgbClr val="7FD1C7"/>
      </a:accent4>
      <a:accent5>
        <a:srgbClr val="C0453F"/>
      </a:accent5>
      <a:accent6>
        <a:srgbClr val="5B6B75"/>
      </a:accent6>
      <a:hlink>
        <a:srgbClr val="0E7C86"/>
      </a:hlink>
      <a:folHlink>
        <a:srgbClr val="5B6B75"/>
      </a:folHlink>
    </a:clrScheme>
    <a:fontScheme name="EKS Ret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EKS platform retrospective</dc:title>
  <dc:subject>PptxGenJS Presentation</dc:subject>
  <dc:creator>PptxGenJS</dc:creator>
  <cp:lastModifiedBy>PptxGenJS</cp:lastModifiedBy>
  <cp:revision>1</cp:revision>
  <dcterms:created xsi:type="dcterms:W3CDTF">2026-10-29T02:48:39Z</dcterms:created>
  <dcterms:modified xsi:type="dcterms:W3CDTF">2026-10-29T02:48:39Z</dcterms:modified>
</cp:coreProperties>
</file>